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Prompting Techniques for LLMs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Zero-shot, Few-shot, Chain-of-Thought</a:t>
            </a:r>
          </a:p>
          <a:p>
            <a:r>
              <a:t>Building Prompts for NLP Tasks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Understand zero-shot, few-shot and chain-of-thought prompting.</a:t>
            </a:r>
          </a:p>
          <a:p>
            <a:pPr>
              <a:defRPr sz="2200"/>
            </a:pPr>
            <a:r>
              <a:t>Learn to build prompts for summarization, translation, classification and reasoning.</a:t>
            </a:r>
          </a:p>
          <a:p>
            <a:pPr>
              <a:defRPr sz="2200"/>
            </a:pPr>
            <a:r>
              <a:t>Compare prompting techniques and best practices.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Zero-shot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646229" cy="4525963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Definition:</a:t>
            </a:r>
            <a:r>
              <a:rPr lang="en-IN" dirty="0"/>
              <a:t> Model performs tasks without examples, relying on pre‑training knowledge.</a:t>
            </a:r>
          </a:p>
          <a:p>
            <a:r>
              <a:rPr lang="en-IN" b="1" dirty="0"/>
              <a:t>Use Cases:</a:t>
            </a:r>
            <a:r>
              <a:rPr lang="en-IN" dirty="0"/>
              <a:t> Summarization, translation, classification.</a:t>
            </a:r>
          </a:p>
          <a:p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Prompt: </a:t>
            </a:r>
            <a:r>
              <a:rPr lang="en-IN" i="1" dirty="0"/>
              <a:t>“Translate this sentence to French: The book is on the table.”</a:t>
            </a:r>
            <a:endParaRPr lang="en-IN" dirty="0"/>
          </a:p>
          <a:p>
            <a:r>
              <a:rPr lang="en-IN" dirty="0"/>
              <a:t>Output: </a:t>
            </a:r>
            <a:r>
              <a:rPr lang="en-IN" i="1" dirty="0"/>
              <a:t>“Le livre est sur la table.”</a:t>
            </a:r>
            <a:endParaRPr lang="en-IN" dirty="0"/>
          </a:p>
          <a:p>
            <a:r>
              <a:rPr lang="en-IN" b="1" dirty="0"/>
              <a:t>Benefits:</a:t>
            </a:r>
            <a:r>
              <a:rPr lang="en-IN" dirty="0"/>
              <a:t> Fast, no </a:t>
            </a:r>
            <a:r>
              <a:rPr lang="en-IN" dirty="0" err="1"/>
              <a:t>labeled</a:t>
            </a:r>
            <a:r>
              <a:rPr lang="en-IN" dirty="0"/>
              <a:t> data needed, broad generalization.</a:t>
            </a:r>
          </a:p>
          <a:p>
            <a:r>
              <a:rPr lang="en-IN" b="1" dirty="0"/>
              <a:t>Limitations:</a:t>
            </a:r>
            <a:r>
              <a:rPr lang="en-IN" dirty="0"/>
              <a:t> May struggle with nuanced or domain‑specific 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Few-shot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027229" cy="4525963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Definition:</a:t>
            </a:r>
            <a:r>
              <a:rPr lang="en-IN" dirty="0"/>
              <a:t> Provide a handful of examples to guide the model.</a:t>
            </a:r>
          </a:p>
          <a:p>
            <a:r>
              <a:rPr lang="en-IN" b="1" dirty="0"/>
              <a:t>Use Cases:</a:t>
            </a:r>
            <a:r>
              <a:rPr lang="en-IN" dirty="0"/>
              <a:t> Sentiment classification, translation, summarization.</a:t>
            </a:r>
          </a:p>
          <a:p>
            <a:pPr marL="0" indent="0">
              <a:buNone/>
            </a:pPr>
            <a:r>
              <a:rPr lang="en-US" dirty="0"/>
              <a:t>Review: "This movie was boring." → Sentiment: Negative</a:t>
            </a:r>
          </a:p>
          <a:p>
            <a:pPr marL="0" indent="0">
              <a:buNone/>
            </a:pPr>
            <a:r>
              <a:rPr lang="en-US" dirty="0"/>
              <a:t>Review: "I loved the acting!" → Sentiment: Positive</a:t>
            </a:r>
          </a:p>
          <a:p>
            <a:pPr marL="0" indent="0">
              <a:buNone/>
            </a:pPr>
            <a:r>
              <a:rPr lang="en-US" dirty="0"/>
              <a:t>Review: "The plot was confusing." → Sentiment: ?</a:t>
            </a:r>
          </a:p>
          <a:p>
            <a:r>
              <a:rPr lang="en-IN" dirty="0"/>
              <a:t>Output: </a:t>
            </a:r>
            <a:r>
              <a:rPr lang="en-IN" i="1" dirty="0"/>
              <a:t>Mixed/Negative</a:t>
            </a:r>
            <a:endParaRPr lang="en-IN" dirty="0"/>
          </a:p>
          <a:p>
            <a:r>
              <a:rPr lang="en-IN" b="1" dirty="0"/>
              <a:t>Benefits:</a:t>
            </a:r>
            <a:r>
              <a:rPr lang="en-IN" dirty="0"/>
              <a:t> Improves accuracy, adapts quickly to specific tasks.</a:t>
            </a:r>
          </a:p>
          <a:p>
            <a:r>
              <a:rPr lang="en-IN" b="1" dirty="0"/>
              <a:t>Limitations:</a:t>
            </a:r>
            <a:r>
              <a:rPr lang="en-IN" dirty="0"/>
              <a:t> Requires careful example selection.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Chain-of-Thought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613571" cy="4525963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Definition:</a:t>
            </a:r>
            <a:r>
              <a:rPr lang="en-IN" dirty="0"/>
              <a:t> Instructs the model to reason step‑by‑step before answering.</a:t>
            </a:r>
          </a:p>
          <a:p>
            <a:r>
              <a:rPr lang="en-IN" b="1" dirty="0"/>
              <a:t>Use Cases:</a:t>
            </a:r>
            <a:r>
              <a:rPr lang="en-IN" dirty="0"/>
              <a:t> Reasoning, math, logic, multi‑step classification.</a:t>
            </a:r>
          </a:p>
          <a:p>
            <a:pPr marL="0" indent="0">
              <a:buNone/>
            </a:pPr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Prompt: </a:t>
            </a:r>
            <a:r>
              <a:rPr lang="en-IN" i="1" dirty="0"/>
              <a:t>“Solve step by step: 5 + 7 + 9 − 12.”</a:t>
            </a:r>
            <a:endParaRPr lang="en-IN" dirty="0"/>
          </a:p>
          <a:p>
            <a:r>
              <a:rPr lang="en-IN" dirty="0"/>
              <a:t>Output reasoning: </a:t>
            </a:r>
            <a:r>
              <a:rPr lang="en-IN" i="1" dirty="0"/>
              <a:t>5+7=12, 12+9=21, 21−12=9 → Final Answer: 9</a:t>
            </a:r>
            <a:endParaRPr lang="en-IN" dirty="0"/>
          </a:p>
          <a:p>
            <a:r>
              <a:rPr lang="en-IN" b="1" dirty="0"/>
              <a:t>Benefits:</a:t>
            </a:r>
            <a:r>
              <a:rPr lang="en-IN" dirty="0"/>
              <a:t> Transparency, higher accuracy in complex reasoning.</a:t>
            </a:r>
          </a:p>
          <a:p>
            <a:r>
              <a:rPr lang="en-IN" b="1" dirty="0"/>
              <a:t>Limitations:</a:t>
            </a:r>
            <a:r>
              <a:rPr lang="en-IN" dirty="0"/>
              <a:t> Slower, may generate verbose reasoning.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9CB569-B019-CBDD-FA4E-AAAAFBF5F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71" y="1417637"/>
            <a:ext cx="11346486" cy="51657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4191"/>
          </a:xfrm>
        </p:spPr>
        <p:txBody>
          <a:bodyPr>
            <a:normAutofit fontScale="90000"/>
          </a:bodyPr>
          <a:lstStyle/>
          <a:p>
            <a:r>
              <a:rPr dirty="0"/>
              <a:t>Summarization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4306"/>
            <a:ext cx="11114314" cy="55734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Basic Summarization</a:t>
            </a:r>
          </a:p>
          <a:p>
            <a:r>
              <a:rPr lang="en-IN" sz="2400" i="1" dirty="0"/>
              <a:t>“Summarize this article in 3 sentences.”</a:t>
            </a:r>
            <a:endParaRPr lang="en-IN" sz="2400" dirty="0"/>
          </a:p>
          <a:p>
            <a:r>
              <a:rPr lang="en-IN" sz="2400" i="1" dirty="0"/>
              <a:t>“Provide a concise summary of the following text.”</a:t>
            </a:r>
          </a:p>
          <a:p>
            <a:pPr marL="0" indent="0">
              <a:buNone/>
            </a:pPr>
            <a:r>
              <a:rPr lang="en-IN" sz="2400" b="1" dirty="0"/>
              <a:t>Structured Summarization</a:t>
            </a:r>
          </a:p>
          <a:p>
            <a:r>
              <a:rPr lang="en-IN" sz="2400" i="1" dirty="0"/>
              <a:t>“Return JSON with keys: title, summary, </a:t>
            </a:r>
            <a:r>
              <a:rPr lang="en-IN" sz="2400" i="1" dirty="0" err="1"/>
              <a:t>key_points</a:t>
            </a:r>
            <a:r>
              <a:rPr lang="en-IN" sz="2400" i="1" dirty="0"/>
              <a:t>.”</a:t>
            </a:r>
          </a:p>
          <a:p>
            <a:pPr marL="0" indent="0">
              <a:buNone/>
            </a:pPr>
            <a:r>
              <a:rPr lang="en-US" sz="2400" b="1" i="1" dirty="0"/>
              <a:t>Bullet Point Summarization</a:t>
            </a:r>
          </a:p>
          <a:p>
            <a:r>
              <a:rPr lang="en-US" sz="2400" i="1" dirty="0"/>
              <a:t>“Summarize the document into 5 bullet points highlighting key ideas.”</a:t>
            </a:r>
          </a:p>
          <a:p>
            <a:pPr marL="0" indent="0">
              <a:buNone/>
            </a:pPr>
            <a:r>
              <a:rPr lang="en-US" sz="2400" b="1" i="1" dirty="0"/>
              <a:t>Audience‑Specific Summarization</a:t>
            </a:r>
          </a:p>
          <a:p>
            <a:r>
              <a:rPr lang="en-US" sz="2400" i="1" dirty="0"/>
              <a:t>“Summarize this report for a manager who needs only high‑level insights.”</a:t>
            </a:r>
          </a:p>
          <a:p>
            <a:r>
              <a:rPr lang="en-US" sz="2400" i="1" dirty="0"/>
              <a:t>“Summarize this research paper for a student with no technical background.”</a:t>
            </a:r>
            <a:endParaRPr lang="en-IN" sz="2400" dirty="0"/>
          </a:p>
          <a:p>
            <a:pPr marL="0" indent="0">
              <a:buNone/>
            </a:pPr>
            <a:r>
              <a:rPr lang="en-US" sz="2400" b="1" dirty="0"/>
              <a:t>Task‑Focused Summarization</a:t>
            </a:r>
          </a:p>
          <a:p>
            <a:r>
              <a:rPr lang="en-US" sz="2400" dirty="0"/>
              <a:t>“Summarize customer reviews, focusing only on product quality and delivery speed.”</a:t>
            </a:r>
          </a:p>
          <a:p>
            <a:r>
              <a:rPr lang="en-US" sz="2400" dirty="0"/>
              <a:t>“Summarize meeting notes into action items.”</a:t>
            </a:r>
            <a:endParaRPr lang="en-IN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Translation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809514" cy="4525963"/>
          </a:xfrm>
        </p:spPr>
        <p:txBody>
          <a:bodyPr>
            <a:normAutofit/>
          </a:bodyPr>
          <a:lstStyle/>
          <a:p>
            <a:pPr marL="0" indent="0">
              <a:buNone/>
              <a:defRPr sz="2200"/>
            </a:pPr>
            <a:r>
              <a:rPr lang="en-IN" sz="2400" b="1" dirty="0"/>
              <a:t>Zero‑Shot</a:t>
            </a:r>
            <a:r>
              <a:rPr lang="en-IN" sz="2400" dirty="0"/>
              <a:t> </a:t>
            </a:r>
          </a:p>
          <a:p>
            <a:pPr>
              <a:defRPr sz="2200"/>
            </a:pPr>
            <a:r>
              <a:rPr lang="en-IN" sz="2400" i="1" dirty="0"/>
              <a:t>“Translate this sentence into French: The book is on the table.”</a:t>
            </a:r>
          </a:p>
          <a:p>
            <a:pPr marL="0" indent="0">
              <a:buNone/>
              <a:defRPr sz="2200"/>
            </a:pPr>
            <a:r>
              <a:rPr lang="en-IN" sz="2400" b="1" i="1" dirty="0"/>
              <a:t>Few-Shot</a:t>
            </a:r>
          </a:p>
          <a:p>
            <a:r>
              <a:rPr lang="en-IN" sz="2400" dirty="0"/>
              <a:t>English: "Good morning" → Spanish: "Buenos días"</a:t>
            </a:r>
          </a:p>
          <a:p>
            <a:r>
              <a:rPr lang="en-IN" sz="2400" dirty="0"/>
              <a:t>English: "Thank you" → Spanish: "Gracias"</a:t>
            </a:r>
          </a:p>
          <a:p>
            <a:r>
              <a:rPr lang="en-IN" sz="2400" dirty="0"/>
              <a:t>English: "See you later" → Spanish: ?</a:t>
            </a:r>
          </a:p>
          <a:p>
            <a:pPr marL="0" indent="0">
              <a:buNone/>
            </a:pPr>
            <a:r>
              <a:rPr lang="en-IN" sz="2400" b="1" dirty="0"/>
              <a:t>Chain‑of‑Thought</a:t>
            </a:r>
            <a:r>
              <a:rPr lang="en-IN" sz="2400" dirty="0"/>
              <a:t> </a:t>
            </a:r>
          </a:p>
          <a:p>
            <a:r>
              <a:rPr lang="en-IN" sz="2400" i="1" dirty="0"/>
              <a:t>“Translate this sentence into German. First identify nouns, verbs, and grammar structure, then provide the final translation.”</a:t>
            </a:r>
            <a:endParaRPr lang="en-IN" sz="2400" dirty="0"/>
          </a:p>
          <a:p>
            <a:pPr>
              <a:defRPr sz="2200"/>
            </a:pP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397344" cy="4983162"/>
          </a:xfrm>
        </p:spPr>
        <p:txBody>
          <a:bodyPr>
            <a:noAutofit/>
          </a:bodyPr>
          <a:lstStyle/>
          <a:p>
            <a:pPr marL="0" indent="0">
              <a:buNone/>
              <a:defRPr sz="2200"/>
            </a:pPr>
            <a:r>
              <a:rPr lang="en-IN" sz="2400" b="1" dirty="0"/>
              <a:t>Zero‑Shot</a:t>
            </a:r>
            <a:r>
              <a:rPr lang="en-IN" sz="2400" dirty="0"/>
              <a:t> </a:t>
            </a:r>
          </a:p>
          <a:p>
            <a:pPr>
              <a:defRPr sz="2200"/>
            </a:pPr>
            <a:r>
              <a:rPr lang="en-IN" sz="2400" i="1" dirty="0"/>
              <a:t>“Classify the following review as Positive, Negative, or Neutral: ‘The food was cold and tasteless.’”</a:t>
            </a:r>
          </a:p>
          <a:p>
            <a:pPr marL="0" indent="0">
              <a:buNone/>
            </a:pPr>
            <a:r>
              <a:rPr lang="en-IN" sz="2400" b="1" dirty="0"/>
              <a:t>Few‑Shot</a:t>
            </a:r>
            <a:endParaRPr lang="en-IN" sz="2400" dirty="0"/>
          </a:p>
          <a:p>
            <a:r>
              <a:rPr lang="en-IN" sz="2400" dirty="0"/>
              <a:t>Review: "I loved the product." → Positive</a:t>
            </a:r>
          </a:p>
          <a:p>
            <a:r>
              <a:rPr lang="en-IN" sz="2400" dirty="0"/>
              <a:t>Review: "It was broken when delivered." → Negative</a:t>
            </a:r>
          </a:p>
          <a:p>
            <a:r>
              <a:rPr lang="en-IN" sz="2400" dirty="0"/>
              <a:t>Review: "The service was okay." → Neutral</a:t>
            </a:r>
          </a:p>
          <a:p>
            <a:r>
              <a:rPr lang="en-IN" sz="2400" dirty="0"/>
              <a:t>Review: "The packaging was damaged." → ?</a:t>
            </a:r>
          </a:p>
          <a:p>
            <a:pPr marL="0" indent="0">
              <a:buNone/>
            </a:pPr>
            <a:r>
              <a:rPr lang="en-IN" sz="2400" b="1" dirty="0"/>
              <a:t>Chain‑of‑Thought</a:t>
            </a:r>
            <a:r>
              <a:rPr lang="en-IN" sz="2400" dirty="0"/>
              <a:t> </a:t>
            </a:r>
          </a:p>
          <a:p>
            <a:r>
              <a:rPr lang="en-IN" sz="2400" i="1" dirty="0"/>
              <a:t>“Classify the sentiment of this review. First </a:t>
            </a:r>
            <a:r>
              <a:rPr lang="en-IN" sz="2400" i="1" dirty="0" err="1"/>
              <a:t>analyze</a:t>
            </a:r>
            <a:r>
              <a:rPr lang="en-IN" sz="2400" i="1" dirty="0"/>
              <a:t> tone and keywords step by step, then give the final label.”</a:t>
            </a:r>
            <a:endParaRPr lang="en-IN" sz="2400" dirty="0"/>
          </a:p>
          <a:p>
            <a:pPr>
              <a:defRPr sz="2200"/>
            </a:pPr>
            <a:endParaRPr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Reasoning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17571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Zero‑Shot</a:t>
            </a:r>
            <a:r>
              <a:rPr lang="en-IN" dirty="0"/>
              <a:t> </a:t>
            </a:r>
          </a:p>
          <a:p>
            <a:r>
              <a:rPr lang="en-IN" i="1" dirty="0"/>
              <a:t>“What is 15 + 27 − 8?”</a:t>
            </a:r>
          </a:p>
          <a:p>
            <a:endParaRPr lang="en-IN" i="1" dirty="0"/>
          </a:p>
          <a:p>
            <a:pPr marL="0" indent="0">
              <a:buNone/>
            </a:pPr>
            <a:r>
              <a:rPr lang="en-IN" b="1" dirty="0"/>
              <a:t>Few‑Shot</a:t>
            </a:r>
            <a:r>
              <a:rPr lang="en-IN" dirty="0"/>
              <a:t> </a:t>
            </a:r>
            <a:endParaRPr lang="en-IN" i="1" dirty="0"/>
          </a:p>
          <a:p>
            <a:r>
              <a:rPr lang="en-IN" dirty="0"/>
              <a:t>Q: 5 + 3 = ?</a:t>
            </a:r>
          </a:p>
          <a:p>
            <a:r>
              <a:rPr lang="en-IN" dirty="0"/>
              <a:t>A: 8</a:t>
            </a:r>
          </a:p>
          <a:p>
            <a:r>
              <a:rPr lang="en-IN" dirty="0"/>
              <a:t>Q: 10 − 4 = ?</a:t>
            </a:r>
          </a:p>
          <a:p>
            <a:r>
              <a:rPr lang="en-IN" dirty="0"/>
              <a:t>A: 6</a:t>
            </a:r>
          </a:p>
          <a:p>
            <a:r>
              <a:rPr lang="en-IN" dirty="0"/>
              <a:t>Q: 12 + 7 = ?</a:t>
            </a:r>
          </a:p>
          <a:p>
            <a:r>
              <a:rPr lang="en-IN" dirty="0"/>
              <a:t>A: ?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81DAD5-4978-A135-4C83-9E43212959E6}"/>
              </a:ext>
            </a:extLst>
          </p:cNvPr>
          <p:cNvSpPr txBox="1"/>
          <p:nvPr/>
        </p:nvSpPr>
        <p:spPr>
          <a:xfrm>
            <a:off x="5722711" y="2335964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effectLst/>
              </a:rPr>
              <a:t>Chain‑of‑Thought</a:t>
            </a:r>
            <a:r>
              <a:rPr lang="en-IN" sz="2400" dirty="0">
                <a:effectLst/>
              </a:rPr>
              <a:t> </a:t>
            </a:r>
          </a:p>
          <a:p>
            <a:r>
              <a:rPr lang="en-IN" sz="2400" i="1" dirty="0">
                <a:effectLst/>
              </a:rPr>
              <a:t>“Solve step by step: A train leaves at 3 PM and travels 2 hours. What time does it arrive?”</a:t>
            </a:r>
            <a:r>
              <a:rPr lang="en-IN" sz="2400" dirty="0">
                <a:effectLst/>
              </a:rPr>
              <a:t> → Reasoning: </a:t>
            </a:r>
            <a:r>
              <a:rPr lang="en-IN" sz="2400" i="1" dirty="0">
                <a:effectLst/>
              </a:rPr>
              <a:t>3 PM + 2 hours = 5 PM → Final Answer: 5 PM</a:t>
            </a:r>
            <a:endParaRPr lang="en-IN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Be specific.</a:t>
            </a:r>
          </a:p>
          <a:p>
            <a:pPr>
              <a:defRPr sz="2200"/>
            </a:pPr>
            <a:r>
              <a:t>Provide context.</a:t>
            </a:r>
          </a:p>
          <a:p>
            <a:pPr>
              <a:defRPr sz="2200"/>
            </a:pPr>
            <a:r>
              <a:t>Specify output format.</a:t>
            </a:r>
          </a:p>
          <a:p>
            <a:pPr>
              <a:defRPr sz="2200"/>
            </a:pPr>
            <a:r>
              <a:t>Use examples when needed.</a:t>
            </a:r>
          </a:p>
          <a:p>
            <a:pPr>
              <a:defRPr sz="2200"/>
            </a:pPr>
            <a:r>
              <a:t>Break complex tasks into steps.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Zero-shot: No examples.</a:t>
            </a:r>
          </a:p>
          <a:p>
            <a:pPr>
              <a:defRPr sz="2200"/>
            </a:pPr>
            <a:r>
              <a:t>Few-shot: Learn from examples.</a:t>
            </a:r>
          </a:p>
          <a:p>
            <a:pPr>
              <a:defRPr sz="2200"/>
            </a:pPr>
            <a:r>
              <a:t>Chain-of-thought: Better reasoning.</a:t>
            </a:r>
          </a:p>
          <a:p>
            <a:pPr>
              <a:defRPr sz="2200"/>
            </a:pPr>
            <a:r>
              <a:t>Prompt quality significantly impacts LLM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721</Words>
  <Application>Microsoft Office PowerPoint</Application>
  <PresentationFormat>Custom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Prompting Techniques for LLMs</vt:lpstr>
      <vt:lpstr>Learning Objectives</vt:lpstr>
      <vt:lpstr>Zero-shot Prompting</vt:lpstr>
      <vt:lpstr>Few-shot Prompting</vt:lpstr>
      <vt:lpstr>Chain-of-Thought Prompting</vt:lpstr>
      <vt:lpstr>Comparison</vt:lpstr>
      <vt:lpstr>Summarization Prompt</vt:lpstr>
      <vt:lpstr>Translation Prompt</vt:lpstr>
      <vt:lpstr>Classification Prompt</vt:lpstr>
      <vt:lpstr>Reasoning Prompt</vt:lpstr>
      <vt:lpstr>Best Practices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Khushboo Sachdeva</cp:lastModifiedBy>
  <cp:revision>2</cp:revision>
  <dcterms:created xsi:type="dcterms:W3CDTF">2013-01-27T09:14:16Z</dcterms:created>
  <dcterms:modified xsi:type="dcterms:W3CDTF">2026-06-17T09:29:18Z</dcterms:modified>
  <cp:category/>
</cp:coreProperties>
</file>