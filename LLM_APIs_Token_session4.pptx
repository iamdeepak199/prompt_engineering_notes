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5" r:id="rId8"/>
    <p:sldId id="267" r:id="rId9"/>
    <p:sldId id="270" r:id="rId10"/>
    <p:sldId id="272" r:id="rId11"/>
    <p:sldId id="273" r:id="rId12"/>
    <p:sldId id="275" r:id="rId13"/>
    <p:sldId id="276" r:id="rId14"/>
    <p:sldId id="277" r:id="rId15"/>
    <p:sldId id="278" r:id="rId16"/>
    <p:sldId id="281" r:id="rId17"/>
    <p:sldId id="283" r:id="rId18"/>
    <p:sldId id="28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Practical: LLM APIs, Token Counting, Temperature, Top_p &amp; Max Tokens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Deep Practical Session for Generative AI &amp; Prompt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LLM API architecture</a:t>
            </a:r>
          </a:p>
          <a:p>
            <a:r>
              <a:t>Count and estimate tokens</a:t>
            </a:r>
          </a:p>
          <a:p>
            <a:r>
              <a:t>Control model behavior using temperature</a:t>
            </a:r>
          </a:p>
          <a:p>
            <a:r>
              <a:t>Use top_p effectively</a:t>
            </a:r>
          </a:p>
          <a:p>
            <a:r>
              <a:t>Manage max_tokens and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LLM API?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Application interface to interact with foundation models</a:t>
            </a:r>
            <a:endParaRPr lang="en-IN" dirty="0"/>
          </a:p>
          <a:p>
            <a:r>
              <a:rPr lang="en-US" dirty="0"/>
              <a:t>What APIs provide: text generation, embeddings, fine‑tuning</a:t>
            </a:r>
            <a:endParaRPr dirty="0"/>
          </a:p>
          <a:p>
            <a:r>
              <a:rPr dirty="0"/>
              <a:t>Send prompts and receive generated responses</a:t>
            </a:r>
            <a:endParaRPr lang="en-IN" dirty="0"/>
          </a:p>
          <a:p>
            <a:r>
              <a:rPr lang="en-US" dirty="0"/>
              <a:t>Typical workflow: request → response → integration into apps</a:t>
            </a:r>
            <a:endParaRPr dirty="0"/>
          </a:p>
          <a:p>
            <a:r>
              <a:rPr dirty="0"/>
              <a:t>Available through OpenAI, Anthropic, AWS Bedrock, Google,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Request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 name</a:t>
            </a:r>
          </a:p>
          <a:p>
            <a:r>
              <a:rPr dirty="0"/>
              <a:t>System/User prompt</a:t>
            </a:r>
          </a:p>
          <a:p>
            <a:r>
              <a:rPr dirty="0"/>
              <a:t>Temperature</a:t>
            </a:r>
          </a:p>
          <a:p>
            <a:r>
              <a:rPr dirty="0" err="1"/>
              <a:t>Top_p</a:t>
            </a:r>
            <a:endParaRPr dirty="0"/>
          </a:p>
          <a:p>
            <a:r>
              <a:rPr dirty="0"/>
              <a:t>Max Tokens</a:t>
            </a:r>
          </a:p>
          <a:p>
            <a:r>
              <a:rPr lang="en-IN" dirty="0"/>
              <a:t>Context window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Token?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Tokens are pieces of text processed by LLMs</a:t>
            </a:r>
          </a:p>
          <a:p>
            <a:r>
              <a:rPr dirty="0"/>
              <a:t>Words may split into multiple tokens</a:t>
            </a:r>
          </a:p>
          <a:p>
            <a:r>
              <a:rPr dirty="0"/>
              <a:t>Token counts drive cost and context limits</a:t>
            </a:r>
            <a:endParaRPr lang="en-IN" dirty="0"/>
          </a:p>
          <a:p>
            <a:r>
              <a:rPr lang="en-US" dirty="0"/>
              <a:t>Example: “ChatGPT is great” → 4 tokens</a:t>
            </a:r>
          </a:p>
          <a:p>
            <a:pPr marL="0" indent="0">
              <a:buNone/>
            </a:pPr>
            <a:r>
              <a:rPr lang="en-US" dirty="0"/>
              <a:t>	Hello world ≈ 2-3 tokens</a:t>
            </a:r>
          </a:p>
          <a:p>
            <a:r>
              <a:rPr lang="en-US" dirty="0"/>
              <a:t>Longer words may split into several tokens</a:t>
            </a:r>
          </a:p>
          <a:p>
            <a:r>
              <a:rPr lang="en-US" dirty="0"/>
              <a:t>Different tokenizers produce different counts</a:t>
            </a:r>
          </a:p>
          <a:p>
            <a:pPr marL="0" indent="0">
              <a:buNone/>
            </a:pPr>
            <a:r>
              <a:rPr lang="en-US" b="1" dirty="0"/>
              <a:t>Word tokenization, sentence tokenization, paragraph tokenization</a:t>
            </a:r>
          </a:p>
          <a:p>
            <a:r>
              <a:rPr lang="en-US" dirty="0"/>
              <a:t>Importance: cost, speed, and context length depend on tokens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Token Counting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API cost calculation</a:t>
            </a:r>
          </a:p>
          <a:p>
            <a:r>
              <a:rPr dirty="0"/>
              <a:t>Context window limitations</a:t>
            </a:r>
          </a:p>
          <a:p>
            <a:r>
              <a:rPr dirty="0"/>
              <a:t>Latency optimization</a:t>
            </a:r>
            <a:r>
              <a:rPr lang="en-IN" dirty="0"/>
              <a:t> – response time</a:t>
            </a:r>
            <a:endParaRPr dirty="0"/>
          </a:p>
          <a:p>
            <a:r>
              <a:rPr dirty="0"/>
              <a:t>Prompt engineering</a:t>
            </a:r>
            <a:endParaRPr lang="en-IN" dirty="0"/>
          </a:p>
          <a:p>
            <a:r>
              <a:rPr lang="en-US" dirty="0"/>
              <a:t>Prevent exceeding max context length</a:t>
            </a:r>
          </a:p>
          <a:p>
            <a:r>
              <a:rPr lang="en-US" dirty="0"/>
              <a:t>Estimate cost before sending requests</a:t>
            </a:r>
          </a:p>
          <a:p>
            <a:pPr marL="0" indent="0">
              <a:buNone/>
            </a:pPr>
            <a:r>
              <a:rPr lang="en-US" b="1" u="sng" dirty="0"/>
              <a:t>Token counting formula</a:t>
            </a:r>
          </a:p>
          <a:p>
            <a:r>
              <a:rPr lang="en-US" dirty="0"/>
              <a:t>Total Tokens = Input Tokens + Output Tokens</a:t>
            </a:r>
          </a:p>
          <a:p>
            <a:r>
              <a:rPr lang="en-US" dirty="0"/>
              <a:t>Cost and usage depend on total consumption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4514"/>
            <a:ext cx="8229600" cy="52988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  <a:r>
              <a:rPr lang="en-US" dirty="0"/>
              <a:t>: Maximum number of tokens (input + output) the model can process at once.</a:t>
            </a:r>
            <a:endParaRPr lang="en-IN" dirty="0"/>
          </a:p>
          <a:p>
            <a:r>
              <a:rPr dirty="0"/>
              <a:t>Maximum tokens model can process</a:t>
            </a:r>
          </a:p>
          <a:p>
            <a:r>
              <a:rPr dirty="0"/>
              <a:t>Includes prompt, system instructions, and response</a:t>
            </a:r>
          </a:p>
          <a:p>
            <a:r>
              <a:rPr dirty="0"/>
              <a:t>Exceeding limits causes truncation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Typical Sizes</a:t>
            </a:r>
            <a:r>
              <a:rPr lang="en-US" dirty="0"/>
              <a:t>:</a:t>
            </a:r>
          </a:p>
          <a:p>
            <a:r>
              <a:rPr lang="en-US" dirty="0"/>
              <a:t>GPT‑3.5 → ~4K tokens</a:t>
            </a:r>
          </a:p>
          <a:p>
            <a:r>
              <a:rPr lang="en-US" dirty="0"/>
              <a:t>GPT‑4 → 8K–128K tokens (depending on variant)</a:t>
            </a:r>
          </a:p>
          <a:p>
            <a:pPr marL="0" indent="0">
              <a:buNone/>
            </a:pPr>
            <a:r>
              <a:rPr lang="en-US" b="1" dirty="0"/>
              <a:t>Why It Matters</a:t>
            </a:r>
            <a:r>
              <a:rPr lang="en-US" dirty="0"/>
              <a:t>:</a:t>
            </a:r>
          </a:p>
          <a:p>
            <a:r>
              <a:rPr lang="en-US" dirty="0"/>
              <a:t>Limits how much history or document you can include in a single request</a:t>
            </a:r>
          </a:p>
          <a:p>
            <a:r>
              <a:rPr lang="en-US" dirty="0"/>
              <a:t>Directly affects ability to handle long conversations or large documents</a:t>
            </a:r>
          </a:p>
          <a:p>
            <a:pPr marL="0" indent="0">
              <a:buNone/>
            </a:pPr>
            <a:r>
              <a:rPr lang="en-US" b="1" dirty="0"/>
              <a:t>Practical Example</a:t>
            </a:r>
            <a:r>
              <a:rPr lang="en-US" dirty="0"/>
              <a:t>:</a:t>
            </a:r>
          </a:p>
          <a:p>
            <a:r>
              <a:rPr lang="en-US" dirty="0"/>
              <a:t>If context window = 8K tokens and prompt uses 2K → max output = 6K tokens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38057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Controls randomness in output generation</a:t>
            </a:r>
          </a:p>
          <a:p>
            <a:r>
              <a:rPr lang="en-US" dirty="0"/>
              <a:t>Controls randomness in sampling</a:t>
            </a:r>
          </a:p>
          <a:p>
            <a:r>
              <a:rPr lang="en-US" dirty="0"/>
              <a:t>Range: 0 (deterministic) → 1+ (creative, diverse)</a:t>
            </a:r>
          </a:p>
          <a:p>
            <a:pPr marL="0" indent="0">
              <a:buNone/>
            </a:pPr>
            <a:r>
              <a:rPr lang="en-US" dirty="0"/>
              <a:t>Use cases:</a:t>
            </a:r>
          </a:p>
          <a:p>
            <a:r>
              <a:rPr lang="en-US" dirty="0"/>
              <a:t>Low temp → factual Q&amp;A, coding</a:t>
            </a:r>
          </a:p>
          <a:p>
            <a:r>
              <a:rPr lang="en-US" dirty="0"/>
              <a:t>High temp → brainstorming, creative writing</a:t>
            </a:r>
          </a:p>
          <a:p>
            <a:r>
              <a:rPr lang="en-US" dirty="0"/>
              <a:t>0.0–0.3: Classification, extraction</a:t>
            </a:r>
          </a:p>
          <a:p>
            <a:r>
              <a:rPr lang="en-US" dirty="0"/>
              <a:t>0.4–0.7: General chat</a:t>
            </a:r>
          </a:p>
          <a:p>
            <a:r>
              <a:rPr lang="en-US" dirty="0"/>
              <a:t>0.8–1.5: Creative writing and brainstorming</a:t>
            </a:r>
          </a:p>
          <a:p>
            <a:pPr marL="0" indent="0">
              <a:buNone/>
            </a:pPr>
            <a:r>
              <a:rPr lang="en-US" b="1" dirty="0"/>
              <a:t>Lower temperature concentrates probability</a:t>
            </a:r>
          </a:p>
          <a:p>
            <a:pPr marL="0" indent="0">
              <a:buNone/>
            </a:pPr>
            <a:r>
              <a:rPr lang="en-US" b="1" dirty="0"/>
              <a:t>Higher temperature spreads probability among words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Top_p?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Nucleus sampling technique</a:t>
            </a:r>
          </a:p>
          <a:p>
            <a:r>
              <a:rPr dirty="0"/>
              <a:t>Selects tokens from cumulative probability distribution</a:t>
            </a:r>
          </a:p>
          <a:p>
            <a:r>
              <a:rPr dirty="0"/>
              <a:t>Alternative to temperature</a:t>
            </a:r>
            <a:endParaRPr lang="en-IN" dirty="0"/>
          </a:p>
          <a:p>
            <a:r>
              <a:rPr lang="en-US" dirty="0"/>
              <a:t>Model samples from top‑p probability mass (e.g., p=0.9)</a:t>
            </a:r>
          </a:p>
          <a:p>
            <a:r>
              <a:rPr lang="en-US" dirty="0"/>
              <a:t>Lower p → safer, focused outputs</a:t>
            </a:r>
          </a:p>
          <a:p>
            <a:r>
              <a:rPr lang="en-US" dirty="0"/>
              <a:t>Higher p → diverse, exploratory outputs</a:t>
            </a:r>
          </a:p>
          <a:p>
            <a:r>
              <a:rPr lang="en-US" dirty="0" err="1"/>
              <a:t>top_p</a:t>
            </a:r>
            <a:r>
              <a:rPr lang="en-US" dirty="0"/>
              <a:t>=0.1 → only highest probability tokens</a:t>
            </a:r>
          </a:p>
          <a:p>
            <a:r>
              <a:rPr lang="en-US" dirty="0" err="1"/>
              <a:t>top_p</a:t>
            </a:r>
            <a:r>
              <a:rPr lang="en-US" dirty="0"/>
              <a:t>=0.9 → broader vocabulary selection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vs Top_p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 changes distribution shape</a:t>
            </a:r>
          </a:p>
          <a:p>
            <a:r>
              <a:t>Top_p filters candidate token pool</a:t>
            </a:r>
          </a:p>
          <a:p>
            <a:r>
              <a:t>Usually tune one parameter at a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Max Tokens?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Limits response length</a:t>
            </a:r>
          </a:p>
          <a:p>
            <a:r>
              <a:rPr dirty="0"/>
              <a:t>Prevents excessive costs</a:t>
            </a:r>
          </a:p>
          <a:p>
            <a:r>
              <a:rPr dirty="0"/>
              <a:t>Controls verbosity</a:t>
            </a:r>
            <a:endParaRPr lang="en-IN" dirty="0"/>
          </a:p>
          <a:p>
            <a:pPr marL="0" indent="0">
              <a:buNone/>
            </a:pPr>
            <a:r>
              <a:rPr lang="en-IN" b="1" u="sng" dirty="0"/>
              <a:t>Examples</a:t>
            </a:r>
          </a:p>
          <a:p>
            <a:r>
              <a:rPr lang="en-US" dirty="0"/>
              <a:t>50 tokens: short answers</a:t>
            </a:r>
          </a:p>
          <a:p>
            <a:r>
              <a:rPr lang="en-US" dirty="0"/>
              <a:t>300 tokens: detailed explanation</a:t>
            </a:r>
          </a:p>
          <a:p>
            <a:r>
              <a:rPr lang="en-US" dirty="0"/>
              <a:t>1000+ tokens: long-form generation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 + Top_p influence creativity</a:t>
            </a:r>
          </a:p>
          <a:p>
            <a:r>
              <a:t>Max Tokens controls length</a:t>
            </a:r>
          </a:p>
          <a:p>
            <a:r>
              <a:t>Balanced tuning improves output quality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Example: OpenAI-style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Send prompt</a:t>
            </a:r>
          </a:p>
          <a:p>
            <a:r>
              <a:rPr dirty="0"/>
              <a:t>Set temperature/</a:t>
            </a:r>
            <a:r>
              <a:rPr dirty="0" err="1"/>
              <a:t>top_p</a:t>
            </a:r>
            <a:r>
              <a:rPr dirty="0"/>
              <a:t>/</a:t>
            </a:r>
            <a:r>
              <a:rPr dirty="0" err="1"/>
              <a:t>max_tokens</a:t>
            </a:r>
            <a:endParaRPr dirty="0"/>
          </a:p>
          <a:p>
            <a:r>
              <a:rPr dirty="0"/>
              <a:t>Receive 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AWS Bedrock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 invocation through Bedrock Runtime</a:t>
            </a:r>
          </a:p>
          <a:p>
            <a:r>
              <a:rPr dirty="0"/>
              <a:t>Parameters vary by provider</a:t>
            </a:r>
          </a:p>
          <a:p>
            <a:r>
              <a:rPr dirty="0"/>
              <a:t>Token usage returned in metadata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Prompt compression</a:t>
            </a:r>
          </a:p>
          <a:p>
            <a:r>
              <a:rPr dirty="0"/>
              <a:t>Chunking documents</a:t>
            </a:r>
          </a:p>
          <a:p>
            <a:r>
              <a:rPr dirty="0"/>
              <a:t>Reducing output length</a:t>
            </a:r>
          </a:p>
          <a:p>
            <a:r>
              <a:rPr dirty="0"/>
              <a:t>Caching responses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low temperature for business workflows</a:t>
            </a:r>
          </a:p>
          <a:p>
            <a:r>
              <a:t>Track token usage</a:t>
            </a:r>
          </a:p>
          <a:p>
            <a:r>
              <a:t>Set max_tokens carefully</a:t>
            </a:r>
          </a:p>
          <a:p>
            <a:r>
              <a:t>Monitor API costs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Code: Token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 </a:t>
            </a:r>
            <a:r>
              <a:rPr dirty="0" err="1"/>
              <a:t>tiktoken</a:t>
            </a:r>
            <a:endParaRPr dirty="0"/>
          </a:p>
          <a:p>
            <a:r>
              <a:rPr dirty="0"/>
              <a:t>enc = </a:t>
            </a:r>
            <a:r>
              <a:rPr dirty="0" err="1"/>
              <a:t>tiktoken.encoding_for_model</a:t>
            </a:r>
            <a:r>
              <a:rPr dirty="0"/>
              <a:t>("gpt-4")</a:t>
            </a:r>
          </a:p>
          <a:p>
            <a:r>
              <a:rPr dirty="0"/>
              <a:t>tokens = 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enc.encode</a:t>
            </a:r>
            <a:r>
              <a:rPr dirty="0"/>
              <a:t>(text))</a:t>
            </a:r>
          </a:p>
          <a:p>
            <a:r>
              <a:rPr dirty="0"/>
              <a:t>print(tokens)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Code: API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from </a:t>
            </a:r>
            <a:r>
              <a:rPr lang="en-IN" dirty="0" err="1"/>
              <a:t>openai</a:t>
            </a:r>
            <a:r>
              <a:rPr lang="en-IN" dirty="0"/>
              <a:t> import OpenAI</a:t>
            </a:r>
          </a:p>
          <a:p>
            <a:r>
              <a:rPr lang="en-IN" dirty="0"/>
              <a:t>client = OpenAI(</a:t>
            </a:r>
            <a:r>
              <a:rPr lang="en-IN" dirty="0" err="1"/>
              <a:t>api_key</a:t>
            </a:r>
            <a:r>
              <a:rPr lang="en-IN" dirty="0"/>
              <a:t>="YOUR_API_KEY")</a:t>
            </a:r>
          </a:p>
          <a:p>
            <a:r>
              <a:rPr lang="en-IN" dirty="0"/>
              <a:t>response = </a:t>
            </a:r>
            <a:r>
              <a:rPr lang="en-IN" dirty="0" err="1"/>
              <a:t>client.chat.completions.create</a:t>
            </a:r>
            <a:r>
              <a:rPr lang="en-IN" dirty="0"/>
              <a:t>(    model="gpt-4o",    </a:t>
            </a:r>
          </a:p>
          <a:p>
            <a:r>
              <a:rPr lang="en-IN" dirty="0"/>
              <a:t>messages=[        {"role": "system", "content": "You are a helpful assistant"},        {"role": "user", "content": "What is Generative AI?"}    ],    temperature=0.7,    </a:t>
            </a:r>
          </a:p>
          <a:p>
            <a:r>
              <a:rPr lang="en-IN" dirty="0" err="1"/>
              <a:t>top_p</a:t>
            </a:r>
            <a:r>
              <a:rPr lang="en-IN" dirty="0"/>
              <a:t>=0.9,    </a:t>
            </a:r>
          </a:p>
          <a:p>
            <a:r>
              <a:rPr lang="en-IN" dirty="0" err="1"/>
              <a:t>max_tokens</a:t>
            </a:r>
            <a:r>
              <a:rPr lang="en-IN" dirty="0"/>
              <a:t>=200)</a:t>
            </a:r>
          </a:p>
          <a:p>
            <a:r>
              <a:rPr lang="en-IN" dirty="0"/>
              <a:t>print(</a:t>
            </a:r>
            <a:r>
              <a:rPr lang="en-IN" dirty="0" err="1"/>
              <a:t>response.choices</a:t>
            </a:r>
            <a:r>
              <a:rPr lang="en-IN" dirty="0"/>
              <a:t>[0].</a:t>
            </a:r>
            <a:r>
              <a:rPr lang="en-IN" dirty="0" err="1"/>
              <a:t>message.content</a:t>
            </a:r>
            <a:r>
              <a:rPr lang="en-IN" dirty="0"/>
              <a:t>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</TotalTime>
  <Words>754</Words>
  <Application>Microsoft Office PowerPoint</Application>
  <PresentationFormat>On-screen Show (4:3)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Practical: LLM APIs, Token Counting, Temperature, Top_p &amp; Max Tokens</vt:lpstr>
      <vt:lpstr>Learning Objectives</vt:lpstr>
      <vt:lpstr>What is an LLM API?</vt:lpstr>
      <vt:lpstr>API Request Components</vt:lpstr>
      <vt:lpstr>What is a Token?</vt:lpstr>
      <vt:lpstr>Why Token Counting Matters</vt:lpstr>
      <vt:lpstr>Context Window</vt:lpstr>
      <vt:lpstr>Temperature Explained</vt:lpstr>
      <vt:lpstr>What is Top_p?</vt:lpstr>
      <vt:lpstr>Temperature vs Top_p</vt:lpstr>
      <vt:lpstr>What is Max Tokens?</vt:lpstr>
      <vt:lpstr>Parameter Interaction</vt:lpstr>
      <vt:lpstr>Python Example: OpenAI-style API</vt:lpstr>
      <vt:lpstr>AWS Bedrock Example</vt:lpstr>
      <vt:lpstr>Cost Optimization Techniques</vt:lpstr>
      <vt:lpstr>Best Practices</vt:lpstr>
      <vt:lpstr>Python Code: Token Counting</vt:lpstr>
      <vt:lpstr>Python Code: API Parameters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Khushboo Sachdeva</cp:lastModifiedBy>
  <cp:revision>3</cp:revision>
  <dcterms:created xsi:type="dcterms:W3CDTF">2013-01-27T09:14:16Z</dcterms:created>
  <dcterms:modified xsi:type="dcterms:W3CDTF">2026-06-02T18:23:53Z</dcterms:modified>
  <cp:category/>
</cp:coreProperties>
</file>