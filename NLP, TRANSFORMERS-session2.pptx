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60" r:id="rId4"/>
    <p:sldId id="262" r:id="rId5"/>
    <p:sldId id="261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53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7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36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6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57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38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51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5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7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1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5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030B39D-568D-48E1-A80E-86CC549EA20F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C0C9053-D519-4C11-AA01-33C1D70E969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5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C831C0-9A94-6248-1F06-E79B2F42B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NLP, TRANSFORMERS</a:t>
            </a:r>
          </a:p>
        </p:txBody>
      </p:sp>
    </p:spTree>
    <p:extLst>
      <p:ext uri="{BB962C8B-B14F-4D97-AF65-F5344CB8AC3E}">
        <p14:creationId xmlns:p14="http://schemas.microsoft.com/office/powerpoint/2010/main" val="1889393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EC78-AC51-B992-AC53-DD2358B6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595140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/>
              <a:t>NLP Pipeline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92425-149E-267D-6734-7D3CF9E30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881744"/>
            <a:ext cx="10058400" cy="4023360"/>
          </a:xfrm>
        </p:spPr>
        <p:txBody>
          <a:bodyPr/>
          <a:lstStyle/>
          <a:p>
            <a:r>
              <a:rPr lang="en-IN" dirty="0"/>
              <a:t>Steps in traditional NLP:</a:t>
            </a:r>
          </a:p>
          <a:p>
            <a:pPr lvl="1"/>
            <a:r>
              <a:rPr lang="en-IN" dirty="0"/>
              <a:t>Text preprocessing (tokenization, </a:t>
            </a:r>
            <a:r>
              <a:rPr lang="en-IN" dirty="0" err="1"/>
              <a:t>stopword</a:t>
            </a:r>
            <a:r>
              <a:rPr lang="en-IN" dirty="0"/>
              <a:t> removal, stemming/lemmatization)</a:t>
            </a:r>
          </a:p>
          <a:p>
            <a:pPr lvl="1"/>
            <a:r>
              <a:rPr lang="en-IN" dirty="0"/>
              <a:t>Feature extraction (Bag of Words, TF-IDF, embeddings)</a:t>
            </a:r>
          </a:p>
          <a:p>
            <a:pPr lvl="1"/>
            <a:r>
              <a:rPr lang="en-IN" dirty="0"/>
              <a:t>Model building (classification, sentiment analysis, translation)</a:t>
            </a:r>
          </a:p>
          <a:p>
            <a:pPr lvl="1"/>
            <a:r>
              <a:rPr lang="en-IN" dirty="0"/>
              <a:t>Evaluation &amp; deployment</a:t>
            </a:r>
          </a:p>
          <a:p>
            <a:r>
              <a:rPr lang="en-IN" dirty="0"/>
              <a:t>Example: Sentiment analysis of customer reviews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1634D-CD84-71F5-C25A-B686948227A2}"/>
              </a:ext>
            </a:extLst>
          </p:cNvPr>
          <p:cNvSpPr txBox="1"/>
          <p:nvPr/>
        </p:nvSpPr>
        <p:spPr>
          <a:xfrm>
            <a:off x="3048000" y="3086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8B896-866C-ABBF-8D7B-391D4AFBE2D6}"/>
              </a:ext>
            </a:extLst>
          </p:cNvPr>
          <p:cNvSpPr txBox="1"/>
          <p:nvPr/>
        </p:nvSpPr>
        <p:spPr>
          <a:xfrm>
            <a:off x="3048000" y="3086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7058B9-0CDD-4971-BC12-309958FDE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13" y="2893424"/>
            <a:ext cx="11249587" cy="38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8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A9CF-96C8-0D27-BAFC-EC84CF73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Transformers &amp;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6ECCE-1DD8-84CE-D039-4EE8A5CD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309" y="1737359"/>
            <a:ext cx="4084320" cy="5120641"/>
          </a:xfrm>
        </p:spPr>
        <p:txBody>
          <a:bodyPr/>
          <a:lstStyle/>
          <a:p>
            <a:r>
              <a:rPr lang="en-IN" dirty="0"/>
              <a:t>Key innovation: </a:t>
            </a:r>
            <a:r>
              <a:rPr lang="en-IN" b="1" dirty="0"/>
              <a:t>Attention mechanism</a:t>
            </a:r>
            <a:endParaRPr lang="en-IN" dirty="0"/>
          </a:p>
          <a:p>
            <a:r>
              <a:rPr lang="en-IN" dirty="0"/>
              <a:t>Components:</a:t>
            </a:r>
          </a:p>
          <a:p>
            <a:pPr lvl="1"/>
            <a:r>
              <a:rPr lang="en-IN" dirty="0"/>
              <a:t>Input embeddings</a:t>
            </a:r>
          </a:p>
          <a:p>
            <a:pPr lvl="1"/>
            <a:r>
              <a:rPr lang="en-IN" dirty="0"/>
              <a:t>Multi-head self-attention</a:t>
            </a:r>
          </a:p>
          <a:p>
            <a:pPr lvl="1"/>
            <a:r>
              <a:rPr lang="en-IN" dirty="0"/>
              <a:t>Feed-forward layers</a:t>
            </a:r>
          </a:p>
          <a:p>
            <a:pPr lvl="1"/>
            <a:r>
              <a:rPr lang="en-IN" dirty="0"/>
              <a:t>Residual connections &amp; </a:t>
            </a:r>
          </a:p>
          <a:p>
            <a:pPr marL="201168" lvl="1" indent="0">
              <a:buNone/>
            </a:pPr>
            <a:r>
              <a:rPr lang="en-IN" dirty="0"/>
              <a:t>layer normalization</a:t>
            </a:r>
          </a:p>
          <a:p>
            <a:r>
              <a:rPr lang="en-IN" dirty="0"/>
              <a:t>Encoder-decoder structure </a:t>
            </a:r>
          </a:p>
          <a:p>
            <a:r>
              <a:rPr lang="en-IN" dirty="0"/>
              <a:t>(used in translation, summarization)</a:t>
            </a:r>
          </a:p>
          <a:p>
            <a:endParaRPr lang="en-IN" dirty="0"/>
          </a:p>
          <a:p>
            <a:r>
              <a:rPr lang="en-IN" dirty="0"/>
              <a:t>My name is Khushboo Sachdeva and I am working in Siemens.</a:t>
            </a:r>
          </a:p>
          <a:p>
            <a:r>
              <a:rPr lang="en-IN" dirty="0"/>
              <a:t>Where does Khushboo works?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 descr="Transformers Architecture">
            <a:extLst>
              <a:ext uri="{FF2B5EF4-FFF2-40B4-BE49-F238E27FC236}">
                <a16:creationId xmlns:a16="http://schemas.microsoft.com/office/drawing/2014/main" id="{D67526B1-3858-31CD-BA83-BD9CE126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72" y="1500187"/>
            <a:ext cx="7434941" cy="492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4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E0F2-AC67-A2EC-F10E-1D1F6C43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F6DD-67C9-EB11-3AB2-9B099A6C4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comparison of the architectures for the Transformer, GPT, and BERT. Image adapted by author from the Transformer architecture diagram in the &quot;Attention is All You Need&quot; paper [2].">
            <a:extLst>
              <a:ext uri="{FF2B5EF4-FFF2-40B4-BE49-F238E27FC236}">
                <a16:creationId xmlns:a16="http://schemas.microsoft.com/office/drawing/2014/main" id="{2DEC3F59-9B64-21AE-FD8E-F646B4641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630" y="0"/>
            <a:ext cx="12322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14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F9F0-08B8-435A-E72B-BA67E8DB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Training a Transformer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2F97C-33C7-8AA4-2376-67D0DC729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Process:</a:t>
            </a:r>
          </a:p>
          <a:p>
            <a:pPr lvl="1"/>
            <a:r>
              <a:rPr lang="en-IN" dirty="0"/>
              <a:t>Input tokens → embeddings</a:t>
            </a:r>
          </a:p>
          <a:p>
            <a:pPr lvl="1"/>
            <a:r>
              <a:rPr lang="en-IN" dirty="0"/>
              <a:t>Attention layers learn relationships</a:t>
            </a:r>
          </a:p>
          <a:p>
            <a:pPr lvl="1"/>
            <a:r>
              <a:rPr lang="en-IN" dirty="0"/>
              <a:t>Predictions compared with ground truth</a:t>
            </a:r>
          </a:p>
          <a:p>
            <a:pPr lvl="1"/>
            <a:r>
              <a:rPr lang="en-IN" dirty="0"/>
              <a:t>Backpropagation updates weights</a:t>
            </a:r>
          </a:p>
          <a:p>
            <a:r>
              <a:rPr lang="en-IN" dirty="0"/>
              <a:t>Requires massive datasets + GPUs/TPUs</a:t>
            </a:r>
          </a:p>
          <a:p>
            <a:r>
              <a:rPr lang="en-IN" dirty="0"/>
              <a:t>Example: GPT trained on billions of words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8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AAA-C38E-539E-DD91-FDA5F03E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Revolutionary NLP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AA38D-2909-1EFE-8930-CB8F63970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BERT (Bidirectional Encoder Representations from Transformers)</a:t>
            </a:r>
            <a:endParaRPr lang="en-IN" dirty="0"/>
          </a:p>
          <a:p>
            <a:pPr lvl="1"/>
            <a:r>
              <a:rPr lang="en-IN" dirty="0"/>
              <a:t>Introduced in 2018 by Google</a:t>
            </a:r>
          </a:p>
          <a:p>
            <a:pPr lvl="1"/>
            <a:r>
              <a:rPr lang="en-IN" dirty="0"/>
              <a:t>Revolutionized NLP with bidirectional context understanding</a:t>
            </a:r>
          </a:p>
          <a:p>
            <a:pPr lvl="1"/>
            <a:r>
              <a:rPr lang="en-IN" dirty="0"/>
              <a:t>Enabled breakthroughs in translation, Q&amp;A, search engines</a:t>
            </a:r>
          </a:p>
          <a:p>
            <a:r>
              <a:rPr lang="en-IN" dirty="0"/>
              <a:t>Other impactful models: GPT, </a:t>
            </a:r>
            <a:r>
              <a:rPr lang="en-IN" dirty="0" err="1"/>
              <a:t>ELMo</a:t>
            </a:r>
            <a:r>
              <a:rPr lang="en-IN" dirty="0"/>
              <a:t>, Word2Vec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E219E-83DF-01A1-118C-AACE5181678D}"/>
              </a:ext>
            </a:extLst>
          </p:cNvPr>
          <p:cNvSpPr txBox="1"/>
          <p:nvPr/>
        </p:nvSpPr>
        <p:spPr>
          <a:xfrm>
            <a:off x="955764" y="3857414"/>
            <a:ext cx="990817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The </a:t>
            </a:r>
            <a:r>
              <a:rPr lang="en-US" sz="2000" b="1" dirty="0">
                <a:effectLst/>
              </a:rPr>
              <a:t>transformer architecture</a:t>
            </a:r>
            <a:r>
              <a:rPr lang="en-US" sz="2000" dirty="0">
                <a:effectLst/>
              </a:rPr>
              <a:t> (2017, </a:t>
            </a:r>
            <a:r>
              <a:rPr lang="en-US" sz="2000" i="1" dirty="0">
                <a:effectLst/>
              </a:rPr>
              <a:t>Attention Is All You Need</a:t>
            </a:r>
            <a:r>
              <a:rPr lang="en-US" sz="2000" dirty="0">
                <a:effectLst/>
              </a:rPr>
              <a:t>) was the turning point.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Models like </a:t>
            </a:r>
            <a:r>
              <a:rPr lang="en-US" sz="2000" b="1" dirty="0">
                <a:effectLst/>
              </a:rPr>
              <a:t>BERT</a:t>
            </a:r>
            <a:r>
              <a:rPr lang="en-US" sz="2000" dirty="0">
                <a:effectLst/>
              </a:rPr>
              <a:t> (2018) and </a:t>
            </a:r>
            <a:r>
              <a:rPr lang="en-US" sz="2000" b="1" dirty="0">
                <a:effectLst/>
              </a:rPr>
              <a:t>GPT</a:t>
            </a:r>
            <a:r>
              <a:rPr lang="en-US" sz="2000" dirty="0">
                <a:effectLst/>
              </a:rPr>
              <a:t> (2018–present) showed that transformers could outperform older NLP methods.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These models bridged the gap between </a:t>
            </a:r>
            <a:r>
              <a:rPr lang="en-US" sz="2000" i="1" dirty="0">
                <a:effectLst/>
              </a:rPr>
              <a:t>understanding</a:t>
            </a:r>
            <a:r>
              <a:rPr lang="en-US" sz="2000" dirty="0">
                <a:effectLst/>
              </a:rPr>
              <a:t> and </a:t>
            </a:r>
            <a:r>
              <a:rPr lang="en-US" sz="2000" i="1" dirty="0">
                <a:effectLst/>
              </a:rPr>
              <a:t>generation</a:t>
            </a:r>
            <a:r>
              <a:rPr lang="en-US" sz="2000" dirty="0">
                <a:effectLst/>
              </a:rPr>
              <a:t>, paving the way for Generative AI.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5018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0EC9-3BFB-FE7A-03CB-CDDA1B50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Switch to Generative AI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A51C0-CC36-46A9-B721-93BD393FB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 of classical NLP:</a:t>
            </a:r>
          </a:p>
          <a:p>
            <a:pPr lvl="1"/>
            <a:r>
              <a:rPr lang="en-US" dirty="0"/>
              <a:t>Rule-based → brittle</a:t>
            </a:r>
          </a:p>
          <a:p>
            <a:pPr lvl="1"/>
            <a:r>
              <a:rPr lang="en-US" dirty="0"/>
              <a:t>Feature engineering → manual, time-consuming</a:t>
            </a:r>
          </a:p>
          <a:p>
            <a:pPr lvl="1"/>
            <a:r>
              <a:rPr lang="en-US" dirty="0"/>
              <a:t>Context understanding → weak</a:t>
            </a:r>
          </a:p>
          <a:p>
            <a:r>
              <a:rPr lang="en-US" dirty="0"/>
              <a:t>Generative AI advantages:</a:t>
            </a:r>
          </a:p>
          <a:p>
            <a:pPr lvl="1"/>
            <a:r>
              <a:rPr lang="en-US" dirty="0"/>
              <a:t>Learns context automatically</a:t>
            </a:r>
          </a:p>
          <a:p>
            <a:pPr lvl="1"/>
            <a:r>
              <a:rPr lang="en-US" dirty="0"/>
              <a:t>Produces creative, human-like outputs</a:t>
            </a:r>
          </a:p>
          <a:p>
            <a:pPr lvl="1"/>
            <a:r>
              <a:rPr lang="en-US" dirty="0"/>
              <a:t>Scales across multiple tasks without retraining</a:t>
            </a:r>
          </a:p>
          <a:p>
            <a:r>
              <a:rPr lang="en-US" dirty="0"/>
              <a:t>Motivational note: </a:t>
            </a:r>
            <a:r>
              <a:rPr lang="en-US" i="1" dirty="0"/>
              <a:t>“Generative AI doesn’t just analyze language — it creates it.”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2967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</TotalTime>
  <Words>295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NLP, TRANSFORMERS</vt:lpstr>
      <vt:lpstr>NLP Pipeline</vt:lpstr>
      <vt:lpstr>Transformers &amp; Architecture </vt:lpstr>
      <vt:lpstr>PowerPoint Presentation</vt:lpstr>
      <vt:lpstr>Training a Transformer </vt:lpstr>
      <vt:lpstr>The Revolutionary NLP Model </vt:lpstr>
      <vt:lpstr>Why Switch to Generative AI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Khushboo Sachdeva</dc:creator>
  <cp:lastModifiedBy>Khushboo Sachdeva</cp:lastModifiedBy>
  <cp:revision>2</cp:revision>
  <dcterms:created xsi:type="dcterms:W3CDTF">2026-05-27T08:33:27Z</dcterms:created>
  <dcterms:modified xsi:type="dcterms:W3CDTF">2026-05-27T10:28:09Z</dcterms:modified>
</cp:coreProperties>
</file>