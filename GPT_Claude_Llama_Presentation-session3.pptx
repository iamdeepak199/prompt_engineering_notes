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"/>
    <p:sldId id="274" r:id="rId3"/>
    <p:sldId id="257" r:id="rId4"/>
    <p:sldId id="258" r:id="rId5"/>
    <p:sldId id="259" r:id="rId6"/>
    <p:sldId id="261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AB215-A13B-74BF-3693-FFB6A0772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/>
              <a:t>How Transformers Focus on Context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19752-A419-6BE2-7BB8-10B522108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1600200"/>
            <a:ext cx="8784771" cy="4983162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Queries (Q)</a:t>
            </a:r>
            <a:r>
              <a:rPr lang="en-US" dirty="0"/>
              <a:t> Represent the current token being processed. They ask: </a:t>
            </a:r>
            <a:r>
              <a:rPr lang="en-US" i="1" dirty="0"/>
              <a:t>“Which other tokens are relevant to me?”</a:t>
            </a:r>
            <a:endParaRPr lang="en-US" dirty="0"/>
          </a:p>
          <a:p>
            <a:r>
              <a:rPr lang="en-US" b="1" dirty="0"/>
              <a:t>Keys (K)</a:t>
            </a:r>
            <a:r>
              <a:rPr lang="en-US" dirty="0"/>
              <a:t> Represent all tokens in the input sequence. They act like labels or identifiers that Queries compare against.</a:t>
            </a:r>
          </a:p>
          <a:p>
            <a:r>
              <a:rPr lang="en-US" b="1" dirty="0"/>
              <a:t>Values (V)</a:t>
            </a:r>
            <a:r>
              <a:rPr lang="en-US" dirty="0"/>
              <a:t> Contain the actual information associated with each token. Once relevance is determined, Values are aggregated to form the output.</a:t>
            </a:r>
          </a:p>
          <a:p>
            <a:r>
              <a:rPr lang="en-US" b="1" dirty="0"/>
              <a:t>Self-Attention</a:t>
            </a:r>
            <a:r>
              <a:rPr lang="en-US" dirty="0"/>
              <a:t> Each token attends to every other token, enabling the model to capture relationships (e.g., subject–verb agreement, long-range dependencies).</a:t>
            </a:r>
          </a:p>
          <a:p>
            <a:r>
              <a:rPr lang="en-US" b="1" dirty="0"/>
              <a:t>Impact on LLMs</a:t>
            </a:r>
            <a:r>
              <a:rPr lang="en-US" dirty="0"/>
              <a:t> This mechanism allows GPT, Claude, and Llama to generate coherent text, reason across context, and handle long sequences effectively.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567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A7B2-EE0C-6C6B-2D72-C544FAD70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/>
              <a:t>Building Trustworthy AI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D6F96-07CD-62EC-06BC-C4923C02D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7274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Principles of Responsible AI</a:t>
            </a:r>
            <a:r>
              <a:rPr lang="en-US" dirty="0"/>
              <a:t> Fairness, transparency, accountability, and inclusivity guide the development and deployment of AI systems.</a:t>
            </a:r>
          </a:p>
          <a:p>
            <a:r>
              <a:rPr lang="en-US" b="1" dirty="0"/>
              <a:t>Mitigating Hallucinations &amp; Bias</a:t>
            </a:r>
            <a:r>
              <a:rPr lang="en-US" dirty="0"/>
              <a:t> Techniques like fine-tuning, human feedback, and diverse training data help reduce errors and biased outputs.</a:t>
            </a:r>
          </a:p>
          <a:p>
            <a:r>
              <a:rPr lang="en-US" b="1" dirty="0"/>
              <a:t>Privacy &amp; Security Safeguards</a:t>
            </a:r>
            <a:r>
              <a:rPr lang="en-US" dirty="0"/>
              <a:t> Protecting sensitive user data and ensuring compliance with regulations (e.g., GDPR, HIPAA) is central to responsible AI.</a:t>
            </a:r>
          </a:p>
          <a:p>
            <a:r>
              <a:rPr lang="en-US" b="1" dirty="0"/>
              <a:t>Constitutional AI &amp; Guardrails</a:t>
            </a:r>
            <a:r>
              <a:rPr lang="en-US" dirty="0"/>
              <a:t> Models like Claude use explicit principles (“constitutions”) to align outputs with ethical standards and reduce harmful responses.</a:t>
            </a:r>
          </a:p>
          <a:p>
            <a:r>
              <a:rPr lang="en-US" b="1" dirty="0"/>
              <a:t>Global Governance &amp; Regulation</a:t>
            </a:r>
            <a:r>
              <a:rPr lang="en-US" dirty="0"/>
              <a:t> Initiatives like the EU AI Act, U.S. frameworks, and India’s AI ethics guidelines aim to standardize safe AI practices worldwide.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7771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/>
              <a:t>Generative Pre-trained Transformer (GPT)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Definition</a:t>
            </a:r>
            <a:r>
              <a:rPr lang="en-US" dirty="0"/>
              <a:t>: GPT stands for </a:t>
            </a:r>
            <a:r>
              <a:rPr lang="en-US" i="1" dirty="0"/>
              <a:t>Generative Pre-trained Transformer</a:t>
            </a:r>
            <a:r>
              <a:rPr lang="en-US" dirty="0"/>
              <a:t> — a family of large language models designed for natural language understanding and generation.</a:t>
            </a:r>
          </a:p>
          <a:p>
            <a:r>
              <a:rPr lang="en-US" b="1" dirty="0"/>
              <a:t>Developer</a:t>
            </a:r>
            <a:r>
              <a:rPr lang="en-US" dirty="0"/>
              <a:t>: Created by </a:t>
            </a:r>
            <a:r>
              <a:rPr lang="en-US" b="1" dirty="0"/>
              <a:t>OpenAI</a:t>
            </a:r>
            <a:r>
              <a:rPr lang="en-US" dirty="0"/>
              <a:t>, a leading AI research company.</a:t>
            </a:r>
          </a:p>
          <a:p>
            <a:r>
              <a:rPr lang="en-US" b="1" dirty="0"/>
              <a:t>Architecture</a:t>
            </a:r>
            <a:r>
              <a:rPr lang="en-US" dirty="0"/>
              <a:t>: Built on a </a:t>
            </a:r>
            <a:r>
              <a:rPr lang="en-US" b="1" dirty="0"/>
              <a:t>decoder-only transformer</a:t>
            </a:r>
            <a:r>
              <a:rPr lang="en-US" dirty="0"/>
              <a:t> framework, optimized for predicting the next word in a sequence.</a:t>
            </a:r>
          </a:p>
          <a:p>
            <a:r>
              <a:rPr lang="en-US" b="1" dirty="0"/>
              <a:t>Core Focus</a:t>
            </a:r>
            <a:r>
              <a:rPr lang="en-US" dirty="0"/>
              <a:t>: Specializes in </a:t>
            </a:r>
            <a:r>
              <a:rPr lang="en-US" b="1" dirty="0"/>
              <a:t>text generation, reasoning, and problem-solving</a:t>
            </a:r>
            <a:r>
              <a:rPr lang="en-US" dirty="0"/>
              <a:t>, making it versatile for tasks like writing, coding, and analysis.</a:t>
            </a:r>
          </a:p>
          <a:p>
            <a:r>
              <a:rPr lang="en-US" b="1" dirty="0"/>
              <a:t>Popular Versions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GPT-3.5</a:t>
            </a:r>
            <a:r>
              <a:rPr lang="en-US" dirty="0"/>
              <a:t> → widely adopted for chatbots and applications</a:t>
            </a:r>
          </a:p>
          <a:p>
            <a:pPr lvl="1"/>
            <a:r>
              <a:rPr lang="en-US" b="1" dirty="0"/>
              <a:t>GPT-4</a:t>
            </a:r>
            <a:r>
              <a:rPr lang="en-US" dirty="0"/>
              <a:t> → improved reasoning, multimodal capabilities</a:t>
            </a:r>
          </a:p>
          <a:p>
            <a:pPr lvl="1"/>
            <a:r>
              <a:rPr lang="en-US" b="1" dirty="0"/>
              <a:t>GPT-5</a:t>
            </a:r>
            <a:r>
              <a:rPr lang="en-US" dirty="0"/>
              <a:t> → latest iteration, pushing boundaries of scale and performance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Core Design of GPT Models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Transformer Decoder Architecture</a:t>
            </a:r>
            <a:r>
              <a:rPr lang="en-US" dirty="0"/>
              <a:t> GPT uses a </a:t>
            </a:r>
            <a:r>
              <a:rPr lang="en-US" b="1" dirty="0"/>
              <a:t>decoder-only transformer</a:t>
            </a:r>
            <a:r>
              <a:rPr lang="en-US" dirty="0"/>
              <a:t> design, where each token is processed sequentially with self-attention layers. This enables the model to capture context and dependencies across long text sequences.</a:t>
            </a:r>
          </a:p>
          <a:p>
            <a:r>
              <a:rPr lang="en-US" b="1" dirty="0"/>
              <a:t>Autoregressive Token Prediction</a:t>
            </a:r>
            <a:r>
              <a:rPr lang="en-US" dirty="0"/>
              <a:t> GPT predicts the </a:t>
            </a:r>
            <a:r>
              <a:rPr lang="en-US" b="1" dirty="0"/>
              <a:t>next token</a:t>
            </a:r>
            <a:r>
              <a:rPr lang="en-US" dirty="0"/>
              <a:t> in a sequence based on all previous tokens. This autoregressive approach is what makes it excel at coherent text generation.</a:t>
            </a:r>
          </a:p>
          <a:p>
            <a:r>
              <a:rPr lang="en-US" b="1" dirty="0"/>
              <a:t>Massive-Scale Training</a:t>
            </a:r>
            <a:r>
              <a:rPr lang="en-US" dirty="0"/>
              <a:t> Trained on </a:t>
            </a:r>
            <a:r>
              <a:rPr lang="en-US" b="1" dirty="0"/>
              <a:t>billions of parameters</a:t>
            </a:r>
            <a:r>
              <a:rPr lang="en-US" dirty="0"/>
              <a:t> and diverse datasets, GPT learns patterns across languages, domains, and tasks, giving it broad generalization ability.</a:t>
            </a:r>
          </a:p>
          <a:p>
            <a:r>
              <a:rPr lang="en-US" b="1" dirty="0"/>
              <a:t>Strong Reasoning &amp; Conversational Capability</a:t>
            </a:r>
            <a:r>
              <a:rPr lang="en-US" dirty="0"/>
              <a:t> Beyond text generation, GPT demonstrates </a:t>
            </a:r>
            <a:r>
              <a:rPr lang="en-US" b="1" dirty="0"/>
              <a:t>logical reasoning, contextual understanding, and natural dialogue flow</a:t>
            </a:r>
            <a:r>
              <a:rPr lang="en-US" dirty="0"/>
              <a:t>, making it effective for chatbots, tutoring, and problem-solving.</a:t>
            </a:r>
          </a:p>
          <a:p>
            <a:r>
              <a:rPr lang="en-US" b="1" dirty="0"/>
              <a:t>Optimized for General-Purpose AI Tasks</a:t>
            </a:r>
            <a:r>
              <a:rPr lang="en-US" dirty="0"/>
              <a:t> GPT is designed as a </a:t>
            </a:r>
            <a:r>
              <a:rPr lang="en-US" b="1" dirty="0"/>
              <a:t>versatile AI assistant</a:t>
            </a:r>
            <a:r>
              <a:rPr lang="en-US" dirty="0"/>
              <a:t> — capable of writing, coding, summarizing, translating, and more, across industries and disciplines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Practical Uses of GPT Models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Code Generation</a:t>
            </a:r>
            <a:r>
              <a:rPr lang="en-US" dirty="0"/>
              <a:t> GPT can write, debug, and optimize code across multiple programming languages. It assists developers by suggesting functions, generating boilerplate code, and explaining complex logic.</a:t>
            </a:r>
          </a:p>
          <a:p>
            <a:r>
              <a:rPr lang="en-US" b="1" dirty="0"/>
              <a:t>Content Generation</a:t>
            </a:r>
            <a:r>
              <a:rPr lang="en-US" dirty="0"/>
              <a:t> Used for creating blogs, articles, marketing copy, social media posts, and even creative writing. GPT adapts tone and style to match the intended audience.</a:t>
            </a:r>
          </a:p>
          <a:p>
            <a:r>
              <a:rPr lang="en-US" b="1" dirty="0"/>
              <a:t>Reasoning and Q&amp;A</a:t>
            </a:r>
            <a:r>
              <a:rPr lang="en-US" dirty="0"/>
              <a:t> Provides logical reasoning, answers factual questions, and explains concepts clearly. It can serve as a tutor, research assistant, or problem solver.</a:t>
            </a:r>
          </a:p>
          <a:p>
            <a:r>
              <a:rPr lang="en-US" b="1" dirty="0"/>
              <a:t>Chatbots and Assistants</a:t>
            </a:r>
            <a:r>
              <a:rPr lang="en-US" dirty="0"/>
              <a:t> Powers conversational AI systems that deliver customer support, personal assistance, and interactive dialogue with natural flow and contextual awareness.</a:t>
            </a:r>
          </a:p>
          <a:p>
            <a:r>
              <a:rPr lang="en-US" b="1" dirty="0"/>
              <a:t>Automation and Productivity Tools</a:t>
            </a:r>
            <a:r>
              <a:rPr lang="en-US" dirty="0"/>
              <a:t> Enhances workflows by automating repetitive tasks like summarization, translation, scheduling, and document drafting, boosting efficiency across industries.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Claude – </a:t>
            </a:r>
            <a:r>
              <a:rPr lang="en-US" b="1" i="1" dirty="0" err="1"/>
              <a:t>Anthropic’s</a:t>
            </a:r>
            <a:r>
              <a:rPr lang="en-US" b="1" i="1" dirty="0"/>
              <a:t> AI Model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Developed by Anthropic</a:t>
            </a:r>
            <a:r>
              <a:rPr lang="en-US" dirty="0"/>
              <a:t> Created by Anthropic, a company founded by former OpenAI researchers, with a mission centered on building safe and aligned AI systems.</a:t>
            </a:r>
          </a:p>
          <a:p>
            <a:r>
              <a:rPr lang="en-US" b="1" dirty="0"/>
              <a:t>Focused on AI Safety &amp; Alignment</a:t>
            </a:r>
            <a:r>
              <a:rPr lang="en-US" dirty="0"/>
              <a:t> Claude emphasizes ethical AI practices, reducing harmful outputs, and ensuring models behave in line with human values.</a:t>
            </a:r>
          </a:p>
          <a:p>
            <a:r>
              <a:rPr lang="en-US" b="1" dirty="0"/>
              <a:t>Uses Constitutional AI</a:t>
            </a:r>
            <a:r>
              <a:rPr lang="en-US" dirty="0"/>
              <a:t> Guided by a “constitution” of principles (fairness, non-discrimination, transparency), Claude applies these rules during training to improve reliability and safety.</a:t>
            </a:r>
          </a:p>
          <a:p>
            <a:r>
              <a:rPr lang="en-US" b="1" dirty="0"/>
              <a:t>Designed for Safe Enterprise Usage</a:t>
            </a:r>
            <a:r>
              <a:rPr lang="en-US" dirty="0"/>
              <a:t> Tailored for businesses, Claude offers secure deployment, compliance support, and reduced risk of misuse compared to open-source models.</a:t>
            </a:r>
          </a:p>
          <a:p>
            <a:r>
              <a:rPr lang="en-US" b="1" dirty="0"/>
              <a:t>Popular Versions</a:t>
            </a:r>
            <a:endParaRPr lang="en-US" dirty="0"/>
          </a:p>
          <a:p>
            <a:pPr lvl="1"/>
            <a:r>
              <a:rPr lang="en-US" b="1" dirty="0"/>
              <a:t>Claude Opus</a:t>
            </a:r>
            <a:r>
              <a:rPr lang="en-US" dirty="0"/>
              <a:t> → most powerful, advanced reasoning</a:t>
            </a:r>
          </a:p>
          <a:p>
            <a:pPr lvl="1"/>
            <a:r>
              <a:rPr lang="en-US" b="1" dirty="0"/>
              <a:t>Claude Sonnet</a:t>
            </a:r>
            <a:r>
              <a:rPr lang="en-US" dirty="0"/>
              <a:t> → balanced performance and efficiency</a:t>
            </a:r>
          </a:p>
          <a:p>
            <a:pPr lvl="1"/>
            <a:r>
              <a:rPr lang="en-US" b="1" dirty="0"/>
              <a:t>Claude Haiku</a:t>
            </a:r>
            <a:r>
              <a:rPr lang="en-US" dirty="0"/>
              <a:t> → lightweight, fast, cost-effective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Practical Uses of Claude Models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Long Document Analysis</a:t>
            </a:r>
            <a:r>
              <a:rPr lang="en-US" dirty="0"/>
              <a:t> Claude excels at processing and interpreting lengthy texts, making it ideal for legal documents, research papers, and enterprise reports.</a:t>
            </a:r>
          </a:p>
          <a:p>
            <a:r>
              <a:rPr lang="en-US" b="1" dirty="0"/>
              <a:t>Safer and Aligned Responses</a:t>
            </a:r>
            <a:r>
              <a:rPr lang="en-US" dirty="0"/>
              <a:t> Built with </a:t>
            </a:r>
            <a:r>
              <a:rPr lang="en-US" b="1" dirty="0"/>
              <a:t>Constitutional AI</a:t>
            </a:r>
            <a:r>
              <a:rPr lang="en-US" dirty="0"/>
              <a:t>, Claude prioritizes ethical and safe outputs, reducing risks of harmful or biased content.</a:t>
            </a:r>
          </a:p>
          <a:p>
            <a:r>
              <a:rPr lang="en-US" b="1" dirty="0"/>
              <a:t>Strong Summarization</a:t>
            </a:r>
            <a:r>
              <a:rPr lang="en-US" dirty="0"/>
              <a:t> Provides concise, accurate summaries of complex material, helping users quickly grasp key insights without reading entire documents.</a:t>
            </a:r>
          </a:p>
          <a:p>
            <a:r>
              <a:rPr lang="en-US" b="1" dirty="0"/>
              <a:t>Enterprise Workflow Automation</a:t>
            </a:r>
            <a:r>
              <a:rPr lang="en-US" dirty="0"/>
              <a:t> Integrates into business processes to automate tasks like drafting emails, generating reports, and assisting in compliance workflows.</a:t>
            </a:r>
          </a:p>
          <a:p>
            <a:r>
              <a:rPr lang="en-US" b="1" dirty="0"/>
              <a:t>Large Context Window Support</a:t>
            </a:r>
            <a:r>
              <a:rPr lang="en-US" dirty="0"/>
              <a:t> Handles </a:t>
            </a:r>
            <a:r>
              <a:rPr lang="en-US" b="1" dirty="0"/>
              <a:t>massive input sizes</a:t>
            </a:r>
            <a:r>
              <a:rPr lang="en-US" dirty="0"/>
              <a:t>, enabling analysis of thousands of tokens at once — crucial for enterprises dealing with extensive datasets.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/>
              <a:t>Llama – Meta’s Open-Weight Model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Developed by Meta</a:t>
            </a:r>
            <a:r>
              <a:rPr lang="en-US" dirty="0"/>
              <a:t> Llama (Large Language Model Meta AI) is created by Meta, designed to democratize access to powerful AI models.</a:t>
            </a:r>
          </a:p>
          <a:p>
            <a:r>
              <a:rPr lang="en-US" b="1" dirty="0"/>
              <a:t>Open-Weight Foundation Model</a:t>
            </a:r>
            <a:r>
              <a:rPr lang="en-US" dirty="0"/>
              <a:t> Unlike proprietary models, Llama is released with open weights, allowing researchers and developers to study, fine-tune, and deploy it freely.</a:t>
            </a:r>
          </a:p>
          <a:p>
            <a:r>
              <a:rPr lang="en-US" b="1" dirty="0"/>
              <a:t>Popular for Research &amp; Local Deployment</a:t>
            </a:r>
            <a:r>
              <a:rPr lang="en-US" dirty="0"/>
              <a:t> Widely used in academia and industry for experimentation, custom applications, and running models locally without heavy cloud dependency.</a:t>
            </a:r>
          </a:p>
          <a:p>
            <a:r>
              <a:rPr lang="en-US" b="1" dirty="0"/>
              <a:t>Llama 2 and Llama 3 Widely Adopted</a:t>
            </a:r>
            <a:endParaRPr lang="en-US" dirty="0"/>
          </a:p>
          <a:p>
            <a:pPr lvl="1"/>
            <a:r>
              <a:rPr lang="en-US" b="1" dirty="0"/>
              <a:t>Llama 2</a:t>
            </a:r>
            <a:r>
              <a:rPr lang="en-US" dirty="0"/>
              <a:t> → introduced in 2023, strong performance and open access</a:t>
            </a:r>
          </a:p>
          <a:p>
            <a:pPr lvl="1"/>
            <a:r>
              <a:rPr lang="en-US" b="1" dirty="0"/>
              <a:t>Llama 3</a:t>
            </a:r>
            <a:r>
              <a:rPr lang="en-US" dirty="0"/>
              <a:t> → improved reasoning, multilingual support, larger context windows</a:t>
            </a:r>
          </a:p>
          <a:p>
            <a:r>
              <a:rPr lang="en-US" b="1" dirty="0"/>
              <a:t>Supports Fine-Tuning &amp; Customization</a:t>
            </a:r>
            <a:r>
              <a:rPr lang="en-US" dirty="0"/>
              <a:t> Flexible architecture enables domain-specific training, making it ideal for specialized applications like healthcare, finance, and education.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Practical Uses of Llama Models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Custom AI Applications</a:t>
            </a:r>
            <a:r>
              <a:rPr lang="en-US" dirty="0"/>
              <a:t> Llama’s open-weight design allows developers to build tailored solutions for industries like healthcare, finance, and education.</a:t>
            </a:r>
          </a:p>
          <a:p>
            <a:r>
              <a:rPr lang="en-US" b="1" dirty="0"/>
              <a:t>Open-Source Experimentation</a:t>
            </a:r>
            <a:r>
              <a:rPr lang="en-US" dirty="0"/>
              <a:t> Researchers and hobbyists can freely experiment with model behavior, test new architectures, and contribute to the AI community.</a:t>
            </a:r>
          </a:p>
          <a:p>
            <a:r>
              <a:rPr lang="en-US" b="1" dirty="0"/>
              <a:t>Fine-Tuning on Enterprise Data</a:t>
            </a:r>
            <a:r>
              <a:rPr lang="en-US" dirty="0"/>
              <a:t> Organizations can adapt Llama to their proprietary datasets, creating domain-specific models for compliance, analytics, or customer support.</a:t>
            </a:r>
          </a:p>
          <a:p>
            <a:r>
              <a:rPr lang="en-US" b="1" dirty="0"/>
              <a:t>Local AI Deployment</a:t>
            </a:r>
            <a:r>
              <a:rPr lang="en-US" dirty="0"/>
              <a:t> Llama can run on local servers or edge devices, reducing reliance on cloud services and offering greater control over privacy and costs.</a:t>
            </a:r>
          </a:p>
          <a:p>
            <a:r>
              <a:rPr lang="en-US" b="1" dirty="0"/>
              <a:t>Research and Academic Usage</a:t>
            </a:r>
            <a:r>
              <a:rPr lang="en-US" dirty="0"/>
              <a:t> Widely adopted in universities and labs for studying language models, advancing AI safety, and exploring new applications.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Choosing the Right AI Model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99" y="1600200"/>
            <a:ext cx="8719457" cy="4525963"/>
          </a:xfrm>
        </p:spPr>
        <p:txBody>
          <a:bodyPr>
            <a:noAutofit/>
          </a:bodyPr>
          <a:lstStyle/>
          <a:p>
            <a:r>
              <a:rPr lang="en-US" sz="2000" b="1" dirty="0"/>
              <a:t>GPT Excels in Reasoning &amp; Coding</a:t>
            </a:r>
            <a:r>
              <a:rPr lang="en-US" sz="2000" dirty="0"/>
              <a:t> GPT is highly effective at logical problem-solving, programming assistance, and generating coherent text. It’s best suited for technical tasks, creative workflows, and versatile applications.</a:t>
            </a:r>
          </a:p>
          <a:p>
            <a:r>
              <a:rPr lang="en-US" sz="2000" b="1" dirty="0"/>
              <a:t>Claude Focuses on Safety &amp; Long Context</a:t>
            </a:r>
            <a:r>
              <a:rPr lang="en-US" sz="2000" dirty="0"/>
              <a:t> Claude emphasizes ethical AI practices through Constitutional AI, ensuring safer outputs. Its ability to handle very large documents makes it ideal for enterprises needing long-context analysis.</a:t>
            </a:r>
          </a:p>
          <a:p>
            <a:r>
              <a:rPr lang="en-US" sz="2000" b="1" dirty="0"/>
              <a:t>Llama Provides Open-Source Flexibility</a:t>
            </a:r>
            <a:r>
              <a:rPr lang="en-US" sz="2000" dirty="0"/>
              <a:t> Llama’s open-weight foundation allows customization, fine-tuning, and local deployment. It’s popular in research and enterprise experimentation where transparency and adaptability are key.</a:t>
            </a:r>
          </a:p>
          <a:p>
            <a:r>
              <a:rPr lang="en-US" sz="2000" b="1" dirty="0"/>
              <a:t>Different Models Suit Different Business Needs</a:t>
            </a:r>
            <a:r>
              <a:rPr lang="en-US" sz="2000" dirty="0"/>
              <a:t> Each model offers unique strengths: GPT for versatility, Claude for safety, and Llama for openness. Businesses can choose based on their priorities.</a:t>
            </a:r>
          </a:p>
          <a:p>
            <a:r>
              <a:rPr lang="en-US" sz="2000" b="1" dirty="0"/>
              <a:t>Selection Depends on Use Case &amp; Infrastructure</a:t>
            </a:r>
            <a:r>
              <a:rPr lang="en-US" sz="2000" dirty="0"/>
              <a:t> The right choice depends on organizational goals — scalability, compliance, cost, customization, or innovation.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/>
              <a:t>Training &amp; Alignment of Large Language Models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87686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Massive Datasets Used for Training</a:t>
            </a:r>
            <a:r>
              <a:rPr lang="en-US" dirty="0"/>
              <a:t> Models are trained on billions of words from diverse sources — books, articles, websites, and code — to capture language patterns and knowledge.</a:t>
            </a:r>
          </a:p>
          <a:p>
            <a:r>
              <a:rPr lang="en-US" b="1" dirty="0"/>
              <a:t>Transformer-Based Learning</a:t>
            </a:r>
            <a:r>
              <a:rPr lang="en-US" dirty="0"/>
              <a:t> Built on the transformer architecture, which uses attention mechanisms to understand relationships between words and context.</a:t>
            </a:r>
          </a:p>
          <a:p>
            <a:r>
              <a:rPr lang="en-US" b="1" dirty="0"/>
              <a:t>Token Prediction Objective</a:t>
            </a:r>
            <a:r>
              <a:rPr lang="en-US" dirty="0"/>
              <a:t> The core task is predicting the next token (word or symbol) in a sequence, enabling coherent text generation and reasoning.</a:t>
            </a:r>
          </a:p>
          <a:p>
            <a:r>
              <a:rPr lang="en-US" b="1" dirty="0"/>
              <a:t>Fine-Tuning Improves Specialization</a:t>
            </a:r>
            <a:r>
              <a:rPr lang="en-US" dirty="0"/>
              <a:t> After pre-training, models can be fine-tuned on domain-specific data (e.g., medical, legal, enterprise) to enhance accuracy in specialized tasks.</a:t>
            </a:r>
          </a:p>
          <a:p>
            <a:r>
              <a:rPr lang="en-US" b="1" dirty="0"/>
              <a:t>RLHF Improves Alignment with Humans</a:t>
            </a:r>
            <a:r>
              <a:rPr lang="en-US" dirty="0"/>
              <a:t> Reinforcement Learning with Human Feedback (RLHF) refines model responses by incorporating human preferences, making outputs safer, more useful, and aligned with values.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How Models Generate Outputs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Prompts Converted into Tokens</a:t>
            </a:r>
            <a:r>
              <a:rPr lang="en-US" dirty="0"/>
              <a:t> User input (text prompt) is broken down into smaller units called tokens, which the model can process mathematically.</a:t>
            </a:r>
          </a:p>
          <a:p>
            <a:r>
              <a:rPr lang="en-US" b="1" dirty="0"/>
              <a:t>Model Predicts Next Token Probabilities</a:t>
            </a:r>
            <a:r>
              <a:rPr lang="en-US" dirty="0"/>
              <a:t> The model calculates probabilities for possible next tokens based on context, choosing the most likely continuation.</a:t>
            </a:r>
          </a:p>
          <a:p>
            <a:r>
              <a:rPr lang="en-US" b="1" dirty="0"/>
              <a:t>Sampling Generates Outputs</a:t>
            </a:r>
            <a:r>
              <a:rPr lang="en-US" dirty="0"/>
              <a:t> Techniques like greedy decoding, top-k sampling, or temperature scaling are used to select tokens and generate coherent text.</a:t>
            </a:r>
          </a:p>
          <a:p>
            <a:r>
              <a:rPr lang="en-US" b="1" dirty="0"/>
              <a:t>Inference Optimized for Speed</a:t>
            </a:r>
            <a:r>
              <a:rPr lang="en-US" dirty="0"/>
              <a:t> Unlike training, inference is streamlined for efficiency, enabling real-time responses in chatbots and assistants.</a:t>
            </a:r>
          </a:p>
          <a:p>
            <a:r>
              <a:rPr lang="en-US" b="1" dirty="0"/>
              <a:t>Used in Production AI Systems</a:t>
            </a:r>
            <a:r>
              <a:rPr lang="en-US" dirty="0"/>
              <a:t> Inference powers practical applications such as customer support bots, coding assistants, and productivity tools deployed at scale.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Real-World Use Cases of LLMs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AI Assistants</a:t>
            </a:r>
            <a:r>
              <a:rPr lang="en-US" dirty="0"/>
              <a:t> Virtual assistants that handle scheduling, answering queries, drafting emails, and providing personalized recommendations.</a:t>
            </a:r>
          </a:p>
          <a:p>
            <a:r>
              <a:rPr lang="en-US" b="1" dirty="0"/>
              <a:t>Coding Copilots</a:t>
            </a:r>
            <a:r>
              <a:rPr lang="en-US" dirty="0"/>
              <a:t> Tools like GitHub Copilot use LLMs to suggest code, debug errors, and accelerate software development.</a:t>
            </a:r>
          </a:p>
          <a:p>
            <a:r>
              <a:rPr lang="en-US" b="1" dirty="0"/>
              <a:t>Document Summarization</a:t>
            </a:r>
            <a:r>
              <a:rPr lang="en-US" dirty="0"/>
              <a:t> Automatically condenses long reports, research papers, or legal documents into concise summaries for faster decision-making.</a:t>
            </a:r>
          </a:p>
          <a:p>
            <a:r>
              <a:rPr lang="en-US" b="1" dirty="0"/>
              <a:t>Healthcare AI</a:t>
            </a:r>
            <a:r>
              <a:rPr lang="en-US" dirty="0"/>
              <a:t> Supports medical research, patient triage, and diagnostic assistance while ensuring safety and compliance.</a:t>
            </a:r>
          </a:p>
          <a:p>
            <a:r>
              <a:rPr lang="en-US" b="1" dirty="0"/>
              <a:t>Finance and Analytics</a:t>
            </a:r>
            <a:r>
              <a:rPr lang="en-US" dirty="0"/>
              <a:t> Enhances fraud detection, risk analysis, and automated reporting in banking and financial services.</a:t>
            </a:r>
          </a:p>
          <a:p>
            <a:r>
              <a:rPr lang="en-US" b="1" dirty="0"/>
              <a:t>Education and Tutoring</a:t>
            </a:r>
            <a:r>
              <a:rPr lang="en-US" dirty="0"/>
              <a:t> Provides personalized learning experiences, interactive tutoring, and automated quiz/flashcard generation for students.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Risks &amp; Limitations of LLMs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Hallucinations</a:t>
            </a:r>
            <a:r>
              <a:rPr lang="en-US" dirty="0"/>
              <a:t> Models sometimes generate incorrect or fabricated information that appears plausible, leading to unreliable outputs in critical use cases.</a:t>
            </a:r>
          </a:p>
          <a:p>
            <a:r>
              <a:rPr lang="en-US" b="1" dirty="0"/>
              <a:t>Bias and Fairness Issues</a:t>
            </a:r>
            <a:r>
              <a:rPr lang="en-US" dirty="0"/>
              <a:t> Training data may contain societal biases, which can be reflected in model responses, raising concerns about fairness and inclusivity.</a:t>
            </a:r>
          </a:p>
          <a:p>
            <a:r>
              <a:rPr lang="en-US" b="1" dirty="0"/>
              <a:t>High Compute Costs</a:t>
            </a:r>
            <a:r>
              <a:rPr lang="en-US" dirty="0"/>
              <a:t> Running large models requires significant computational resources, making them expensive to train and deploy at scale.</a:t>
            </a:r>
          </a:p>
          <a:p>
            <a:r>
              <a:rPr lang="en-US" b="1" dirty="0"/>
              <a:t>Privacy Concerns</a:t>
            </a:r>
            <a:r>
              <a:rPr lang="en-US" dirty="0"/>
              <a:t> Sensitive data used in prompts or training can pose risks if not handled securely, requiring strong safeguards for user confidentiality.</a:t>
            </a:r>
          </a:p>
          <a:p>
            <a:r>
              <a:rPr lang="en-US" b="1" dirty="0"/>
              <a:t>Ethical AI Challenges</a:t>
            </a:r>
            <a:r>
              <a:rPr lang="en-US" dirty="0"/>
              <a:t> Broader issues include accountability, transparency, misuse in harmful applications, and the need for responsible governance frameworks.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Foundation Models are the Heart of the Generative AI Revolution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</TotalTime>
  <Words>1914</Words>
  <Application>Microsoft Office PowerPoint</Application>
  <PresentationFormat>On-screen Show (4:3)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How Transformers Focus on Context</vt:lpstr>
      <vt:lpstr>Building Trustworthy AI Systems</vt:lpstr>
      <vt:lpstr>Generative Pre-trained Transformer (GPT)</vt:lpstr>
      <vt:lpstr>Core Design of GPT Models</vt:lpstr>
      <vt:lpstr>Practical Uses of GPT Models</vt:lpstr>
      <vt:lpstr>Claude – Anthropic’s AI Model</vt:lpstr>
      <vt:lpstr>Practical Uses of Claude Models</vt:lpstr>
      <vt:lpstr>Llama – Meta’s Open-Weight Model</vt:lpstr>
      <vt:lpstr>Practical Uses of Llama Models</vt:lpstr>
      <vt:lpstr>Choosing the Right AI Model</vt:lpstr>
      <vt:lpstr>Training &amp; Alignment of Large Language Models</vt:lpstr>
      <vt:lpstr>How Models Generate Outputs</vt:lpstr>
      <vt:lpstr>Real-World Use Cases of LLMs</vt:lpstr>
      <vt:lpstr>Risks &amp; Limitations of LLMs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Khushboo Sachdeva</cp:lastModifiedBy>
  <cp:revision>2</cp:revision>
  <dcterms:created xsi:type="dcterms:W3CDTF">2013-01-27T09:14:16Z</dcterms:created>
  <dcterms:modified xsi:type="dcterms:W3CDTF">2026-05-29T06:09:35Z</dcterms:modified>
  <cp:category/>
</cp:coreProperties>
</file>