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8" r:id="rId3"/>
    <p:sldId id="261" r:id="rId4"/>
    <p:sldId id="262" r:id="rId5"/>
    <p:sldId id="263" r:id="rId6"/>
    <p:sldId id="264" r:id="rId7"/>
    <p:sldId id="265" r:id="rId8"/>
    <p:sldId id="266" r:id="rId9"/>
    <p:sldId id="267" r:id="rId10"/>
  </p:sldIdLst>
  <p:sldSz cx="12192000" cy="6858000"/>
  <p:notesSz cx="6858000" cy="9144000"/>
  <p:embeddedFontLst>
    <p:embeddedFont>
      <p:font typeface="Inter" panose="020B0604020202020204" charset="0"/>
      <p:regular r:id="rId12"/>
      <p:bold r:id="rId13"/>
      <p:italic r:id="rId14"/>
      <p:boldItalic r:id="rId15"/>
    </p:embeddedFont>
    <p:embeddedFont>
      <p:font typeface="Urbanist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D97D688-B055-485E-A645-C19C7EC18BBE}">
  <a:tblStyle styleId="{DD97D688-B055-485E-A645-C19C7EC18BB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286000" y="3681412"/>
            <a:ext cx="76200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Journey Through Artificial Intelligence, Machine Learning, Deep Learning, and the Generative Revolution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30279" y="2528887"/>
            <a:ext cx="11531441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MASTERING THE AI FRONTIER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1000125" y="2135683"/>
            <a:ext cx="1062037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Simulation of Cognition:</a:t>
            </a:r>
            <a:r>
              <a:rPr lang="en-US" sz="18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The ability of machines to mimic human problem-solving and decision-making capabilities.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1000125" y="3013769"/>
            <a:ext cx="1062037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Adaptive Learning:</a:t>
            </a:r>
            <a:r>
              <a:rPr lang="en-US" sz="18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Unlike static code, AI systems improve their performance as they are exposed to more information.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1000125" y="3891855"/>
            <a:ext cx="1062037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Perception &amp; Understanding:</a:t>
            </a:r>
            <a:r>
              <a:rPr lang="en-US" sz="18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Enabling machines to "see" (Vision), "hear" (Audio), and "read" (Natural Language).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1000125" y="4769941"/>
            <a:ext cx="10620375" cy="1465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Autonomous Reasoning:</a:t>
            </a:r>
            <a:r>
              <a:rPr lang="en-US" sz="1800" b="0" i="0" u="none" strike="noStrike" cap="none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Moving beyond programmed rules to logical inference and probabilistic outcome estimation.</a:t>
            </a:r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Examples: Recommendation systems, chatbots, self-driving cars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8807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66157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44242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822328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800100" y="571500"/>
            <a:ext cx="11361420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WHAT IS ARTIFICIAL INTELLIGENCE?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71500" y="571500"/>
            <a:ext cx="57150" cy="54471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63105"/>
            <a:ext cx="53816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463105"/>
            <a:ext cx="538162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8"/>
          <p:cNvSpPr txBox="1"/>
          <p:nvPr/>
        </p:nvSpPr>
        <p:spPr>
          <a:xfrm>
            <a:off x="962025" y="3406080"/>
            <a:ext cx="460057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Focuses on algorithms that learn from structured data using statistical techniques. Often requires "feature engineering" where humans manually identify data attributes (e.g., age, price) for the model.</a:t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6629400" y="3406080"/>
            <a:ext cx="460057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subset of ML based on Artificial Neural Networks with multiple layers. It autonomously learns features from unstructured data like raw pixels or text, mimicking the human brain's neural pathways.</a:t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800100" y="571500"/>
            <a:ext cx="11361420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MACHINE LEARNING VS. DEEP LEARNING</a:t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571500" y="571500"/>
            <a:ext cx="57150" cy="54471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962025" y="2853630"/>
            <a:ext cx="483060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F2FF"/>
                </a:solidFill>
                <a:latin typeface="Urbanist"/>
                <a:ea typeface="Urbanist"/>
                <a:cs typeface="Urbanist"/>
                <a:sym typeface="Urbanist"/>
              </a:rPr>
              <a:t>Machine Learning (ML)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6629400" y="2853630"/>
            <a:ext cx="483060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F2FF"/>
                </a:solidFill>
                <a:latin typeface="Urbanist"/>
                <a:ea typeface="Urbanist"/>
                <a:cs typeface="Urbanist"/>
                <a:sym typeface="Urbanist"/>
              </a:rPr>
              <a:t>Deep Learning (DL)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080DB4-3DA1-CC7B-E82B-66238A0577C9}"/>
              </a:ext>
            </a:extLst>
          </p:cNvPr>
          <p:cNvSpPr txBox="1"/>
          <p:nvPr/>
        </p:nvSpPr>
        <p:spPr>
          <a:xfrm>
            <a:off x="1996542" y="5711130"/>
            <a:ext cx="89685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Analogy: ML = learning with rules, DL = learning with experience</a:t>
            </a:r>
            <a:endParaRPr lang="en-IN" sz="2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/>
        </p:nvSpPr>
        <p:spPr>
          <a:xfrm>
            <a:off x="800100" y="571500"/>
            <a:ext cx="11361420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PERFORMANCE VS. DATA SCALING</a:t>
            </a:r>
            <a:endParaRPr/>
          </a:p>
        </p:txBody>
      </p:sp>
      <p:sp>
        <p:nvSpPr>
          <p:cNvPr id="146" name="Google Shape;146;p19"/>
          <p:cNvSpPr/>
          <p:nvPr/>
        </p:nvSpPr>
        <p:spPr>
          <a:xfrm>
            <a:off x="571500" y="571500"/>
            <a:ext cx="57150" cy="54471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7750" y="1748730"/>
            <a:ext cx="4286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3950" y="1824930"/>
            <a:ext cx="4133850" cy="41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0"/>
          <p:cNvSpPr txBox="1"/>
          <p:nvPr/>
        </p:nvSpPr>
        <p:spPr>
          <a:xfrm>
            <a:off x="6381750" y="3353990"/>
            <a:ext cx="5238750" cy="167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NLP allows machines to read, decipher, and make sense of human languages in a way that is valuable. From sentiment analysis and chatbots to real-time translation, it powers the interface between human thought and digital processing.</a:t>
            </a:r>
            <a:endParaRPr/>
          </a:p>
        </p:txBody>
      </p:sp>
      <p:sp>
        <p:nvSpPr>
          <p:cNvPr id="155" name="Google Shape;155;p20"/>
          <p:cNvSpPr txBox="1"/>
          <p:nvPr/>
        </p:nvSpPr>
        <p:spPr>
          <a:xfrm>
            <a:off x="800100" y="571500"/>
            <a:ext cx="11361420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NLP: BRIDGING THE LANGUAGE GAP</a:t>
            </a:r>
            <a:endParaRPr/>
          </a:p>
        </p:txBody>
      </p:sp>
      <p:sp>
        <p:nvSpPr>
          <p:cNvPr id="156" name="Google Shape;156;p20"/>
          <p:cNvSpPr/>
          <p:nvPr/>
        </p:nvSpPr>
        <p:spPr>
          <a:xfrm>
            <a:off x="571500" y="571500"/>
            <a:ext cx="57150" cy="54471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 txBox="1"/>
          <p:nvPr/>
        </p:nvSpPr>
        <p:spPr>
          <a:xfrm>
            <a:off x="6381750" y="2753915"/>
            <a:ext cx="550068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Natural Language Processing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E333F4-8519-9AC0-B726-29EC096C7B7F}"/>
              </a:ext>
            </a:extLst>
          </p:cNvPr>
          <p:cNvSpPr txBox="1"/>
          <p:nvPr/>
        </p:nvSpPr>
        <p:spPr>
          <a:xfrm>
            <a:off x="5257800" y="5718393"/>
            <a:ext cx="620485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dirty="0">
                <a:solidFill>
                  <a:schemeClr val="bg1"/>
                </a:solidFill>
                <a:effectLst/>
              </a:rPr>
              <a:t>Example: </a:t>
            </a:r>
            <a:r>
              <a:rPr lang="en-US" sz="2200" i="1" dirty="0">
                <a:solidFill>
                  <a:schemeClr val="bg1"/>
                </a:solidFill>
                <a:effectLst/>
              </a:rPr>
              <a:t>“Alexa, play my favorite song.”</a:t>
            </a:r>
            <a:endParaRPr lang="en-US" sz="2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20192"/>
            <a:ext cx="3492400" cy="374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020192"/>
            <a:ext cx="3492549" cy="374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020192"/>
            <a:ext cx="3492400" cy="37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1"/>
          <p:cNvSpPr txBox="1"/>
          <p:nvPr/>
        </p:nvSpPr>
        <p:spPr>
          <a:xfrm>
            <a:off x="952500" y="3763267"/>
            <a:ext cx="27304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Distilling long-form content into concise, meaningful summaries while retaining key context.</a:t>
            </a:r>
            <a:endParaRPr/>
          </a:p>
        </p:txBody>
      </p:sp>
      <p:sp>
        <p:nvSpPr>
          <p:cNvPr id="167" name="Google Shape;167;p21"/>
          <p:cNvSpPr txBox="1"/>
          <p:nvPr/>
        </p:nvSpPr>
        <p:spPr>
          <a:xfrm>
            <a:off x="4730650" y="3763267"/>
            <a:ext cx="27305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Identifying and extracting subjective information from source materials (positive, negative, neutral).</a:t>
            </a:r>
            <a:endParaRPr/>
          </a:p>
        </p:txBody>
      </p:sp>
      <p:sp>
        <p:nvSpPr>
          <p:cNvPr id="168" name="Google Shape;168;p21"/>
          <p:cNvSpPr txBox="1"/>
          <p:nvPr/>
        </p:nvSpPr>
        <p:spPr>
          <a:xfrm>
            <a:off x="8508950" y="4125217"/>
            <a:ext cx="27304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Locating and classifying named entities in text such as names, organizations, locations, and dates.</a:t>
            </a:r>
            <a:endParaRPr/>
          </a:p>
        </p:txBody>
      </p:sp>
      <p:pic>
        <p:nvPicPr>
          <p:cNvPr id="169" name="Google Shape;16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08150" y="2439292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57726" y="243929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36025" y="243929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1"/>
          <p:cNvSpPr txBox="1"/>
          <p:nvPr/>
        </p:nvSpPr>
        <p:spPr>
          <a:xfrm>
            <a:off x="800100" y="571500"/>
            <a:ext cx="11361420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CORE PILLARS OF NLP</a:t>
            </a:r>
            <a:endParaRPr/>
          </a:p>
        </p:txBody>
      </p:sp>
      <p:sp>
        <p:nvSpPr>
          <p:cNvPr id="173" name="Google Shape;173;p21"/>
          <p:cNvSpPr/>
          <p:nvPr/>
        </p:nvSpPr>
        <p:spPr>
          <a:xfrm>
            <a:off x="571500" y="571500"/>
            <a:ext cx="57150" cy="54471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884239" y="3210817"/>
            <a:ext cx="286692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F2FF"/>
                </a:solidFill>
                <a:latin typeface="Urbanist"/>
                <a:ea typeface="Urbanist"/>
                <a:cs typeface="Urbanist"/>
                <a:sym typeface="Urbanist"/>
              </a:rPr>
              <a:t>Summarization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4662387" y="3210817"/>
            <a:ext cx="286707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F2FF"/>
                </a:solidFill>
                <a:latin typeface="Urbanist"/>
                <a:ea typeface="Urbanist"/>
                <a:cs typeface="Urbanist"/>
                <a:sym typeface="Urbanist"/>
              </a:rPr>
              <a:t>Sentiment Analysis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8440690" y="3210817"/>
            <a:ext cx="286692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F2FF"/>
                </a:solidFill>
                <a:latin typeface="Urbanist"/>
                <a:ea typeface="Urbanist"/>
                <a:cs typeface="Urbanist"/>
                <a:sym typeface="Urbanist"/>
              </a:rPr>
              <a:t>NER (Entity Recognition)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13716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2"/>
          <p:cNvSpPr txBox="1"/>
          <p:nvPr/>
        </p:nvSpPr>
        <p:spPr>
          <a:xfrm>
            <a:off x="571500" y="3326308"/>
            <a:ext cx="4131129" cy="2843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Generative AI represents a shift from machines that </a:t>
            </a:r>
            <a:r>
              <a:rPr lang="en-US" sz="1650" b="0" i="1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analyze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data to machines that </a:t>
            </a:r>
            <a:r>
              <a:rPr lang="en-US" sz="1650" b="0" i="1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create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it. Using Large Language Models (LLMs) and Diffusion techniques, these systems generate original text, images, and code that rival human creativity.</a:t>
            </a:r>
            <a:endParaRPr dirty="0"/>
          </a:p>
        </p:txBody>
      </p:sp>
      <p:sp>
        <p:nvSpPr>
          <p:cNvPr id="184" name="Google Shape;184;p22"/>
          <p:cNvSpPr txBox="1"/>
          <p:nvPr/>
        </p:nvSpPr>
        <p:spPr>
          <a:xfrm>
            <a:off x="571500" y="571500"/>
            <a:ext cx="4131129" cy="1980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GENERATIVE AI: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900" b="1" i="0" u="none" strike="noStrike" cap="none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THE CREATIVE LEAP</a:t>
            </a:r>
            <a:endParaRPr dirty="0"/>
          </a:p>
        </p:txBody>
      </p:sp>
      <p:pic>
        <p:nvPicPr>
          <p:cNvPr id="2" name="Picture 1" descr="Generative AI vs Traditional AI : A Comprehensive Guide">
            <a:extLst>
              <a:ext uri="{FF2B5EF4-FFF2-40B4-BE49-F238E27FC236}">
                <a16:creationId xmlns:a16="http://schemas.microsoft.com/office/drawing/2014/main" id="{ECA0BDFF-D397-D1B2-6BEC-10397303FA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2630" y="653143"/>
            <a:ext cx="748937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3"/>
          <p:cNvSpPr/>
          <p:nvPr/>
        </p:nvSpPr>
        <p:spPr>
          <a:xfrm>
            <a:off x="571500" y="2234505"/>
            <a:ext cx="11049000" cy="3314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1" name="Google Shape;191;p23"/>
          <p:cNvGraphicFramePr/>
          <p:nvPr>
            <p:extLst>
              <p:ext uri="{D42A27DB-BD31-4B8C-83A1-F6EECF244321}">
                <p14:modId xmlns:p14="http://schemas.microsoft.com/office/powerpoint/2010/main" val="3608398371"/>
              </p:ext>
            </p:extLst>
          </p:nvPr>
        </p:nvGraphicFramePr>
        <p:xfrm>
          <a:off x="571500" y="2234505"/>
          <a:ext cx="11049000" cy="3314750"/>
        </p:xfrm>
        <a:graphic>
          <a:graphicData uri="http://schemas.openxmlformats.org/drawingml/2006/table">
            <a:tbl>
              <a:tblPr firstRow="1" bandRow="1">
                <a:noFill/>
                <a:tableStyleId>{DD97D688-B055-485E-A645-C19C7EC18BBE}</a:tableStyleId>
              </a:tblPr>
              <a:tblGrid>
                <a:gridCol w="21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1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Tool Name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Category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Core Architecture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Primary Use Case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ChatGPT / Claude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Text Generation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Transformer (LLM)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Reasoning, Coding, Content Writing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Midjourney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Image Generation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Diffusion Model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Artistic Design &amp; Photorealistic Art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GitHub Copilot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Code Generation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OpenAI Codex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Real-time Programming Assistance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Runway Gen-3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Video Generation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Video Diffusion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Cinematic Motion Content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2" name="Google Shape;192;p23"/>
          <p:cNvSpPr/>
          <p:nvPr/>
        </p:nvSpPr>
        <p:spPr>
          <a:xfrm>
            <a:off x="571500" y="2920305"/>
            <a:ext cx="214892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3"/>
          <p:cNvSpPr/>
          <p:nvPr/>
        </p:nvSpPr>
        <p:spPr>
          <a:xfrm>
            <a:off x="2720429" y="2920305"/>
            <a:ext cx="211395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3"/>
          <p:cNvSpPr/>
          <p:nvPr/>
        </p:nvSpPr>
        <p:spPr>
          <a:xfrm>
            <a:off x="4834383" y="2920305"/>
            <a:ext cx="307166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3"/>
          <p:cNvSpPr/>
          <p:nvPr/>
        </p:nvSpPr>
        <p:spPr>
          <a:xfrm>
            <a:off x="7906047" y="2920305"/>
            <a:ext cx="371445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3"/>
          <p:cNvSpPr/>
          <p:nvPr/>
        </p:nvSpPr>
        <p:spPr>
          <a:xfrm>
            <a:off x="571500" y="3577530"/>
            <a:ext cx="214892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3"/>
          <p:cNvSpPr/>
          <p:nvPr/>
        </p:nvSpPr>
        <p:spPr>
          <a:xfrm>
            <a:off x="2720429" y="3577530"/>
            <a:ext cx="211395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3"/>
          <p:cNvSpPr/>
          <p:nvPr/>
        </p:nvSpPr>
        <p:spPr>
          <a:xfrm>
            <a:off x="4834383" y="3577530"/>
            <a:ext cx="307166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7906047" y="3577530"/>
            <a:ext cx="371445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571500" y="4234755"/>
            <a:ext cx="214892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2720429" y="4234755"/>
            <a:ext cx="211395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4834383" y="4234755"/>
            <a:ext cx="307166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7906047" y="4234755"/>
            <a:ext cx="371445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571500" y="4891980"/>
            <a:ext cx="214892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2720429" y="4891980"/>
            <a:ext cx="211395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4834383" y="4891980"/>
            <a:ext cx="307166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7906047" y="4891980"/>
            <a:ext cx="371445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 txBox="1"/>
          <p:nvPr/>
        </p:nvSpPr>
        <p:spPr>
          <a:xfrm>
            <a:off x="800100" y="571500"/>
            <a:ext cx="11361420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GENERATIVE AI ECOSYSTEM</a:t>
            </a:r>
            <a:endParaRPr/>
          </a:p>
        </p:txBody>
      </p:sp>
      <p:sp>
        <p:nvSpPr>
          <p:cNvPr id="209" name="Google Shape;209;p23"/>
          <p:cNvSpPr/>
          <p:nvPr/>
        </p:nvSpPr>
        <p:spPr>
          <a:xfrm>
            <a:off x="571500" y="571500"/>
            <a:ext cx="57150" cy="54471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DA028F-464F-62E7-C318-39E4B49E9F48}"/>
              </a:ext>
            </a:extLst>
          </p:cNvPr>
          <p:cNvSpPr txBox="1"/>
          <p:nvPr/>
        </p:nvSpPr>
        <p:spPr>
          <a:xfrm>
            <a:off x="2509157" y="5804118"/>
            <a:ext cx="71736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200" dirty="0" err="1">
                <a:solidFill>
                  <a:schemeClr val="bg1"/>
                </a:solidFill>
                <a:effectLst/>
              </a:rPr>
              <a:t>Examples</a:t>
            </a:r>
            <a:r>
              <a:rPr lang="fr-FR" sz="2200" dirty="0">
                <a:solidFill>
                  <a:schemeClr val="bg1"/>
                </a:solidFill>
                <a:effectLst/>
              </a:rPr>
              <a:t>: </a:t>
            </a:r>
            <a:r>
              <a:rPr lang="fr-FR" sz="2200" dirty="0" err="1">
                <a:solidFill>
                  <a:schemeClr val="bg1"/>
                </a:solidFill>
                <a:effectLst/>
              </a:rPr>
              <a:t>ChatGPT</a:t>
            </a:r>
            <a:r>
              <a:rPr lang="fr-FR" sz="2200" dirty="0">
                <a:solidFill>
                  <a:schemeClr val="bg1"/>
                </a:solidFill>
                <a:effectLst/>
              </a:rPr>
              <a:t>, </a:t>
            </a:r>
            <a:r>
              <a:rPr lang="fr-FR" sz="2200" dirty="0" err="1">
                <a:solidFill>
                  <a:schemeClr val="bg1"/>
                </a:solidFill>
                <a:effectLst/>
              </a:rPr>
              <a:t>Copilot</a:t>
            </a:r>
            <a:r>
              <a:rPr lang="fr-FR" sz="2200" dirty="0">
                <a:solidFill>
                  <a:schemeClr val="bg1"/>
                </a:solidFill>
                <a:effectLst/>
              </a:rPr>
              <a:t>, DALL·E, Stable Diffusion</a:t>
            </a:r>
            <a:endParaRPr lang="fr-FR" sz="2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71994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4"/>
          <p:cNvSpPr txBox="1"/>
          <p:nvPr/>
        </p:nvSpPr>
        <p:spPr>
          <a:xfrm>
            <a:off x="295275" y="2661557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452</Words>
  <Application>Microsoft Office PowerPoint</Application>
  <PresentationFormat>Widescreen</PresentationFormat>
  <Paragraphs>51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Inter</vt:lpstr>
      <vt:lpstr>Calibri</vt:lpstr>
      <vt:lpstr>Urbanist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Khushboo Sachdeva</cp:lastModifiedBy>
  <cp:revision>1</cp:revision>
  <dcterms:modified xsi:type="dcterms:W3CDTF">2026-05-24T07:18:26Z</dcterms:modified>
</cp:coreProperties>
</file>