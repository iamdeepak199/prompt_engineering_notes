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1" r:id="rId7"/>
    <p:sldId id="261" r:id="rId8"/>
    <p:sldId id="262" r:id="rId9"/>
    <p:sldId id="266" r:id="rId10"/>
    <p:sldId id="290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Structured Output &amp; Tool Calling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Structured Outputs?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Predictable responses</a:t>
            </a:r>
            <a:r>
              <a:rPr lang="en-IN" dirty="0"/>
              <a:t> Systems consistently produce expected outputs, making them easier to trust and integrate.</a:t>
            </a:r>
          </a:p>
          <a:p>
            <a:r>
              <a:rPr lang="en-IN" b="1" dirty="0"/>
              <a:t>Machine-readable outputs</a:t>
            </a:r>
            <a:r>
              <a:rPr lang="en-IN" dirty="0"/>
              <a:t> Results are structured in formats like JSON or XML, enabling seamless communication between applications.</a:t>
            </a:r>
          </a:p>
          <a:p>
            <a:r>
              <a:rPr lang="en-IN" b="1" dirty="0"/>
              <a:t>Reduces parsing errors</a:t>
            </a:r>
            <a:r>
              <a:rPr lang="en-IN" dirty="0"/>
              <a:t> Standardized outputs minimize misinterpretation, lowering the risk of data handling mistakes.</a:t>
            </a:r>
          </a:p>
          <a:p>
            <a:r>
              <a:rPr lang="en-IN" b="1" dirty="0"/>
              <a:t>Improves automation</a:t>
            </a:r>
            <a:r>
              <a:rPr lang="en-IN" dirty="0"/>
              <a:t> Reliable, structured responses allow workflows to run smoothly without manual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Structured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Constrained responses</a:t>
            </a:r>
            <a:r>
              <a:rPr lang="en-IN" dirty="0"/>
              <a:t> Large Language Model outputs are restricted to a fixed schema, ensuring consistency.</a:t>
            </a:r>
          </a:p>
          <a:p>
            <a:r>
              <a:rPr lang="en-IN" b="1" dirty="0"/>
              <a:t>JSON format</a:t>
            </a:r>
            <a:r>
              <a:rPr lang="en-IN" dirty="0"/>
              <a:t> The most common structure used, making responses easy to parse and integrate.</a:t>
            </a:r>
          </a:p>
          <a:p>
            <a:r>
              <a:rPr lang="en-IN" b="1" dirty="0"/>
              <a:t>Downstream suitability</a:t>
            </a:r>
            <a:r>
              <a:rPr lang="en-IN" dirty="0"/>
              <a:t> Well‑structured outputs can be directly consumed by other applications, pipelines, or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Unstructured vs Structured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Natural language output</a:t>
            </a:r>
            <a:r>
              <a:rPr lang="en-IN" dirty="0"/>
              <a:t> Human‑readable responses, ideal for direct communication and understanding.</a:t>
            </a:r>
          </a:p>
          <a:p>
            <a:r>
              <a:rPr lang="en-IN" b="1" dirty="0"/>
              <a:t>JSON output</a:t>
            </a:r>
            <a:r>
              <a:rPr lang="en-IN" dirty="0"/>
              <a:t> Structured, machine‑readable format that supports integration with applications and APIs.</a:t>
            </a:r>
          </a:p>
          <a:p>
            <a:r>
              <a:rPr lang="en-IN" b="1" dirty="0"/>
              <a:t>Schema validation advantages</a:t>
            </a:r>
            <a:r>
              <a:rPr lang="en-IN" dirty="0"/>
              <a:t> Ensures outputs follow a predefined structure, reducing errors and improving reliability in downstream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55448"/>
          </a:xfrm>
        </p:spPr>
        <p:txBody>
          <a:bodyPr/>
          <a:lstStyle/>
          <a:p>
            <a:r>
              <a:rPr dirty="0"/>
              <a:t>Introduction to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7895"/>
            <a:ext cx="8229600" cy="536416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Objects</a:t>
            </a:r>
            <a:r>
              <a:rPr lang="en-IN" dirty="0"/>
              <a:t> Collections of data enclosed in { }, containing key‑value pairs. Example: { "name": "Khushboo", "role": "Trainer" }</a:t>
            </a:r>
          </a:p>
          <a:p>
            <a:r>
              <a:rPr lang="en-IN" b="1" dirty="0"/>
              <a:t>Arrays</a:t>
            </a:r>
            <a:r>
              <a:rPr lang="en-IN" dirty="0"/>
              <a:t> Ordered lists of values enclosed in [ ]. Example: [ "Python", "SQL", "AI" ]</a:t>
            </a:r>
          </a:p>
          <a:p>
            <a:r>
              <a:rPr lang="en-IN" b="1" dirty="0"/>
              <a:t>Arrays</a:t>
            </a:r>
            <a:r>
              <a:rPr lang="en-IN" dirty="0"/>
              <a:t> provide that ordered list capability, enclosed in [ ]. </a:t>
            </a:r>
          </a:p>
          <a:p>
            <a:pPr marL="400050" lvl="1" indent="0">
              <a:buNone/>
            </a:pPr>
            <a:r>
              <a:rPr lang="en-IN" dirty="0"/>
              <a:t>They’re essential when you want multiple values under one key — for example, a list of skills, IDs, or records.</a:t>
            </a:r>
          </a:p>
          <a:p>
            <a:pPr marL="400050" lvl="1" indent="0">
              <a:buNone/>
            </a:pPr>
            <a:r>
              <a:rPr lang="en-IN" dirty="0"/>
              <a:t>Without arrays, JSON would only allow single values per key, making it impossible to represent collections naturally.</a:t>
            </a:r>
          </a:p>
          <a:p>
            <a:r>
              <a:rPr lang="en-IN" b="1" dirty="0"/>
              <a:t>Key‑value pairs</a:t>
            </a:r>
            <a:r>
              <a:rPr lang="en-IN" dirty="0"/>
              <a:t> Fundamental unit of JSON: a string key mapped to a value. Example: "age": 25</a:t>
            </a:r>
          </a:p>
          <a:p>
            <a:r>
              <a:rPr lang="en-IN" b="1" dirty="0"/>
              <a:t>Nested structures</a:t>
            </a:r>
            <a:r>
              <a:rPr lang="en-IN" dirty="0"/>
              <a:t> Objects or arrays inside other objects/arrays for hierarchical data. Example: { "employee": { "name": "Sara", "skills": ["Python", "ML"] }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2BA8-29A1-2152-4091-7B236686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Arrays Explained: Types, Operations ...">
            <a:extLst>
              <a:ext uri="{FF2B5EF4-FFF2-40B4-BE49-F238E27FC236}">
                <a16:creationId xmlns:a16="http://schemas.microsoft.com/office/drawing/2014/main" id="{73368D4E-0E27-48DE-DD0F-561C491D3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05543"/>
            <a:ext cx="7783286" cy="534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69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874306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String</a:t>
            </a:r>
            <a:r>
              <a:rPr lang="en-IN" dirty="0"/>
              <a:t> Text enclosed in double quotes. Example: "city": "Pune"</a:t>
            </a:r>
          </a:p>
          <a:p>
            <a:r>
              <a:rPr lang="en-IN" b="1" dirty="0"/>
              <a:t>Number</a:t>
            </a:r>
            <a:r>
              <a:rPr lang="en-IN" dirty="0"/>
              <a:t> Numeric values (integer or floating‑point). Example: "age": 25</a:t>
            </a:r>
          </a:p>
          <a:p>
            <a:r>
              <a:rPr lang="en-IN" b="1" dirty="0"/>
              <a:t>Boolean</a:t>
            </a:r>
            <a:r>
              <a:rPr lang="en-IN" dirty="0"/>
              <a:t> Logical values: true or false. Example: "</a:t>
            </a:r>
            <a:r>
              <a:rPr lang="en-IN" dirty="0" err="1"/>
              <a:t>isStudent</a:t>
            </a:r>
            <a:r>
              <a:rPr lang="en-IN" dirty="0"/>
              <a:t>": true</a:t>
            </a:r>
          </a:p>
          <a:p>
            <a:r>
              <a:rPr lang="en-IN" b="1" dirty="0"/>
              <a:t>Array</a:t>
            </a:r>
            <a:r>
              <a:rPr lang="en-IN" dirty="0"/>
              <a:t> Ordered list of values enclosed in [ ]. Example: "skills": ["Python", "SQL", "AI"]</a:t>
            </a:r>
          </a:p>
          <a:p>
            <a:r>
              <a:rPr lang="en-IN" b="1" dirty="0"/>
              <a:t>Object</a:t>
            </a:r>
            <a:r>
              <a:rPr lang="en-IN" dirty="0"/>
              <a:t> Collection of key‑value pairs enclosed in { }. Example: { "name": "Khushboo", "role": "Trainer" }</a:t>
            </a:r>
          </a:p>
          <a:p>
            <a:r>
              <a:rPr lang="en-IN" b="1" dirty="0"/>
              <a:t>Null</a:t>
            </a:r>
            <a:r>
              <a:rPr lang="en-IN" dirty="0"/>
              <a:t> Represents an empty or missing value. Example: "</a:t>
            </a:r>
            <a:r>
              <a:rPr lang="en-IN" dirty="0" err="1"/>
              <a:t>middleName</a:t>
            </a:r>
            <a:r>
              <a:rPr lang="en-IN" dirty="0"/>
              <a:t>": null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JSON is Important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API communication</a:t>
            </a:r>
            <a:r>
              <a:rPr lang="en-IN" dirty="0"/>
              <a:t> JSON enables seamless data exchange between AI models and external services, making integration straightforward.</a:t>
            </a:r>
          </a:p>
          <a:p>
            <a:r>
              <a:rPr lang="en-IN" b="1" dirty="0"/>
              <a:t>Workflow automation</a:t>
            </a:r>
            <a:r>
              <a:rPr lang="en-IN" dirty="0"/>
              <a:t> Structured outputs reduce manual intervention, allowing AI pipelines to run reliably and efficiently.</a:t>
            </a:r>
          </a:p>
          <a:p>
            <a:r>
              <a:rPr lang="en-IN" b="1" dirty="0"/>
              <a:t>Database integration</a:t>
            </a:r>
            <a:r>
              <a:rPr lang="en-IN" dirty="0"/>
              <a:t> JSON maps naturally to document databases (like MongoDB) and can be easily stored, queried, and retrieved for AI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Validation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Prompt</a:t>
            </a:r>
            <a:r>
              <a:rPr lang="en-IN" dirty="0"/>
              <a:t> User or system request initiates the process.</a:t>
            </a:r>
          </a:p>
          <a:p>
            <a:r>
              <a:rPr lang="en-IN" b="1" dirty="0"/>
              <a:t>Model</a:t>
            </a:r>
            <a:r>
              <a:rPr lang="en-IN" dirty="0"/>
              <a:t> LLM generates output based on the prompt.</a:t>
            </a:r>
          </a:p>
          <a:p>
            <a:r>
              <a:rPr lang="en-IN" b="1" dirty="0"/>
              <a:t>JSON</a:t>
            </a:r>
            <a:r>
              <a:rPr lang="en-IN" dirty="0"/>
              <a:t> Response is structured into a predefined format for consistency.</a:t>
            </a:r>
          </a:p>
          <a:p>
            <a:r>
              <a:rPr lang="en-IN" b="1" dirty="0"/>
              <a:t>Validation</a:t>
            </a:r>
            <a:r>
              <a:rPr lang="en-IN" dirty="0"/>
              <a:t> Schema rules check the JSON output for correctness and completeness.</a:t>
            </a:r>
          </a:p>
          <a:p>
            <a:r>
              <a:rPr lang="en-IN" b="1" dirty="0"/>
              <a:t>Application</a:t>
            </a:r>
            <a:r>
              <a:rPr lang="en-IN" dirty="0"/>
              <a:t> Validated data is consumed by downstream systems, APIs, or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79929-98B7-7325-BFBA-A96B0F76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D32353-7426-90F1-1DF7-2AB39612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266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8DC159-5C3A-171B-F2DF-DB0A5A1E3879}"/>
              </a:ext>
            </a:extLst>
          </p:cNvPr>
          <p:cNvSpPr txBox="1"/>
          <p:nvPr/>
        </p:nvSpPr>
        <p:spPr>
          <a:xfrm>
            <a:off x="217714" y="631660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!pip install --upgrade </a:t>
            </a:r>
            <a:r>
              <a:rPr lang="en-IN" dirty="0" err="1"/>
              <a:t>certifi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688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Output in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9714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Schema‑guided generation</a:t>
            </a:r>
            <a:r>
              <a:rPr lang="en-IN" dirty="0"/>
              <a:t> Prompts enforce a predefined schema, ensuring outputs align with expected fields and types.</a:t>
            </a:r>
          </a:p>
          <a:p>
            <a:r>
              <a:rPr lang="en-IN" b="1" dirty="0"/>
              <a:t>Guaranteed format</a:t>
            </a:r>
            <a:r>
              <a:rPr lang="en-IN" dirty="0"/>
              <a:t> Responses consistently follow JSON or other structured layouts, making them machine‑readable.</a:t>
            </a:r>
          </a:p>
          <a:p>
            <a:r>
              <a:rPr lang="en-IN" b="1" dirty="0"/>
              <a:t>Reduced hallucinated fields</a:t>
            </a:r>
            <a:r>
              <a:rPr lang="en-IN" dirty="0"/>
              <a:t> Schema constraints prevent the model from inventing extra or irrelevant attributes.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It highlights how schema‑driven design improves </a:t>
            </a:r>
            <a:r>
              <a:rPr lang="en-IN" b="1" dirty="0"/>
              <a:t>reliability, integration, and trustworthiness</a:t>
            </a:r>
            <a:r>
              <a:rPr lang="en-IN" dirty="0"/>
              <a:t> of LLM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Calling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Model selects function</a:t>
            </a:r>
            <a:r>
              <a:rPr lang="en-IN" dirty="0"/>
              <a:t> Based on the prompt, the LLM decides which predefined function is relevant.</a:t>
            </a:r>
          </a:p>
          <a:p>
            <a:r>
              <a:rPr lang="en-IN" b="1" dirty="0"/>
              <a:t>Returns arguments</a:t>
            </a:r>
            <a:r>
              <a:rPr lang="en-IN" dirty="0"/>
              <a:t> Instead of free‑form text, the model outputs structured arguments (e.g., JSON) that match the function schema.</a:t>
            </a:r>
          </a:p>
          <a:p>
            <a:r>
              <a:rPr lang="en-IN" b="1" dirty="0"/>
              <a:t>Application executes function</a:t>
            </a:r>
            <a:r>
              <a:rPr lang="en-IN" dirty="0"/>
              <a:t> The downstream system takes those arguments, runs the actual function, and delivers results back to the user or workflow.</a:t>
            </a:r>
          </a:p>
          <a:p>
            <a:endParaRPr lang="en-IN" dirty="0"/>
          </a:p>
          <a:p>
            <a:r>
              <a:rPr lang="en-IN" dirty="0"/>
              <a:t>This workflow ensures </a:t>
            </a:r>
            <a:r>
              <a:rPr lang="en-IN" b="1" dirty="0"/>
              <a:t>predictability, automation, and safe integration</a:t>
            </a:r>
            <a:r>
              <a:rPr lang="en-IN" dirty="0"/>
              <a:t> between LLMs and applications.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Tool Calling?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Extends function calling</a:t>
            </a:r>
            <a:r>
              <a:rPr lang="en-IN" dirty="0"/>
              <a:t> Goes beyond returning arguments — the model can trigger external tools directly.</a:t>
            </a:r>
          </a:p>
          <a:p>
            <a:r>
              <a:rPr lang="en-IN" b="1" dirty="0"/>
              <a:t>External systems integration</a:t>
            </a:r>
            <a:r>
              <a:rPr lang="en-IN" dirty="0"/>
              <a:t> Connects AI outputs with APIs, databases, or enterprise software for seamless workflows.</a:t>
            </a:r>
          </a:p>
          <a:p>
            <a:r>
              <a:rPr lang="en-IN" b="1" dirty="0"/>
              <a:t>Real‑world actions</a:t>
            </a:r>
            <a:r>
              <a:rPr lang="en-IN" dirty="0"/>
              <a:t> Enables the AI to perform tasks like sending emails, booking tickets, or retrieving files, bridging digital reasoning with practical execution.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This makes tool calling the </a:t>
            </a:r>
            <a:r>
              <a:rPr lang="en-IN" b="1" dirty="0"/>
              <a:t>bridge between AI reasoning and real‑world impact</a:t>
            </a:r>
            <a:r>
              <a:rPr lang="en-IN" dirty="0"/>
              <a:t>, ensuring outputs aren’t just text but actionable steps.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Calling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User</a:t>
            </a:r>
            <a:r>
              <a:rPr lang="en-IN" dirty="0"/>
              <a:t> Provides a prompt or request that initiates the process.</a:t>
            </a:r>
          </a:p>
          <a:p>
            <a:r>
              <a:rPr lang="en-IN" b="1" dirty="0"/>
              <a:t>LLM</a:t>
            </a:r>
            <a:r>
              <a:rPr lang="en-IN" dirty="0"/>
              <a:t> Interprets the prompt and decides if a function call is needed.</a:t>
            </a:r>
          </a:p>
          <a:p>
            <a:r>
              <a:rPr lang="en-IN" b="1" dirty="0"/>
              <a:t>Function Selection</a:t>
            </a:r>
            <a:r>
              <a:rPr lang="en-IN" dirty="0"/>
              <a:t> The model chooses the appropriate predefined function and prepares arguments.</a:t>
            </a:r>
          </a:p>
          <a:p>
            <a:r>
              <a:rPr lang="en-IN" b="1" dirty="0"/>
              <a:t>Execution</a:t>
            </a:r>
            <a:r>
              <a:rPr lang="en-IN" dirty="0"/>
              <a:t> The application or system runs the selected function with the given arguments.</a:t>
            </a:r>
          </a:p>
          <a:p>
            <a:r>
              <a:rPr lang="en-IN" b="1" dirty="0"/>
              <a:t>Result</a:t>
            </a:r>
            <a:r>
              <a:rPr lang="en-IN" dirty="0"/>
              <a:t> The output is returned to the user, either in structured JSON or human‑readable format.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This architecture ensures </a:t>
            </a:r>
            <a:r>
              <a:rPr lang="en-IN" b="1" dirty="0"/>
              <a:t>predictability, automation, and safe integration</a:t>
            </a:r>
            <a:r>
              <a:rPr lang="en-IN" dirty="0"/>
              <a:t> between LLM reasoning and application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Function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Weather lookup</a:t>
            </a:r>
            <a:r>
              <a:rPr lang="en-IN" dirty="0"/>
              <a:t> The LLM outputs structured arguments (e.g., { "city": "Pune" }) to call a weather API, ensuring reliable forecasts.</a:t>
            </a:r>
          </a:p>
          <a:p>
            <a:r>
              <a:rPr lang="en-IN" b="1" dirty="0"/>
              <a:t>Database queries</a:t>
            </a:r>
            <a:r>
              <a:rPr lang="en-IN" dirty="0"/>
              <a:t> Instead of free‑form text, the model generates query parameters (e.g., { "table": "employees", "id": 42 }) for safe database access.</a:t>
            </a:r>
          </a:p>
          <a:p>
            <a:r>
              <a:rPr lang="en-IN" b="1" dirty="0"/>
              <a:t>Booking systems</a:t>
            </a:r>
            <a:r>
              <a:rPr lang="en-IN" dirty="0"/>
              <a:t> Structured JSON ensures correct inputs for tasks like flight reservations, hotel bookings, or calendar scheduling.</a:t>
            </a:r>
          </a:p>
          <a:p>
            <a:r>
              <a:rPr lang="en-IN" b="1" dirty="0"/>
              <a:t>Enterprise workflows</a:t>
            </a:r>
            <a:r>
              <a:rPr lang="en-IN" dirty="0"/>
              <a:t> Automates processes such as HR onboarding, ticket creation, or CRM updates by passing validated arguments to enterprise tools.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User request</a:t>
            </a:r>
            <a:r>
              <a:rPr lang="en-IN" dirty="0"/>
              <a:t> The user provides a prompt that requires action beyond text generation.</a:t>
            </a:r>
          </a:p>
          <a:p>
            <a:r>
              <a:rPr lang="en-IN" b="1" dirty="0"/>
              <a:t>Model chooses tool</a:t>
            </a:r>
            <a:r>
              <a:rPr lang="en-IN" dirty="0"/>
              <a:t> The LLM identifies the appropriate external tool (e.g., calendar, database, API).</a:t>
            </a:r>
          </a:p>
          <a:p>
            <a:r>
              <a:rPr lang="en-IN" b="1" dirty="0"/>
              <a:t>Function selection</a:t>
            </a:r>
            <a:r>
              <a:rPr lang="en-IN" dirty="0"/>
              <a:t> The model chooses the right function schema and generates structured arguments.</a:t>
            </a:r>
          </a:p>
          <a:p>
            <a:r>
              <a:rPr lang="en-IN" b="1" dirty="0"/>
              <a:t>Tool executes</a:t>
            </a:r>
            <a:r>
              <a:rPr lang="en-IN" dirty="0"/>
              <a:t> The selected tool runs with the structured arguments provided by the model.</a:t>
            </a:r>
          </a:p>
          <a:p>
            <a:r>
              <a:rPr lang="en-IN" b="1" dirty="0"/>
              <a:t>Result returned</a:t>
            </a:r>
            <a:r>
              <a:rPr lang="en-IN" dirty="0"/>
              <a:t> The tool’s output is passed back to the user or integrated into the workflow.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This workflow shows how tool calling </a:t>
            </a:r>
            <a:r>
              <a:rPr lang="en-IN" b="1" dirty="0"/>
              <a:t>extends function calling</a:t>
            </a:r>
            <a:r>
              <a:rPr lang="en-IN" dirty="0"/>
              <a:t> by enabling real‑world actions and external system integration.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Weather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200" b="1" dirty="0"/>
              <a:t>Input</a:t>
            </a:r>
            <a:r>
              <a:rPr lang="en-IN" sz="2200" dirty="0"/>
              <a:t>: </a:t>
            </a:r>
            <a:r>
              <a:rPr lang="en-IN" sz="2200" i="1" dirty="0"/>
              <a:t>“What’s the weather in Pune today?”</a:t>
            </a:r>
          </a:p>
          <a:p>
            <a:pPr marL="0" indent="0">
              <a:buNone/>
            </a:pPr>
            <a:endParaRPr lang="en-IN" sz="2200" i="1" dirty="0"/>
          </a:p>
          <a:p>
            <a:r>
              <a:rPr lang="en-IN" sz="2200" b="1" dirty="0"/>
              <a:t>Function schema</a:t>
            </a:r>
            <a:r>
              <a:rPr lang="en-IN" sz="2200" dirty="0"/>
              <a:t>:</a:t>
            </a:r>
          </a:p>
          <a:p>
            <a:pPr marL="0" indent="0">
              <a:buNone/>
            </a:pPr>
            <a:r>
              <a:rPr lang="en-IN" sz="2200" dirty="0"/>
              <a:t>{</a:t>
            </a:r>
          </a:p>
          <a:p>
            <a:pPr marL="0" indent="0">
              <a:buNone/>
            </a:pPr>
            <a:r>
              <a:rPr lang="en-IN" sz="2200" dirty="0"/>
              <a:t>  "name": "</a:t>
            </a:r>
            <a:r>
              <a:rPr lang="en-IN" sz="2200" dirty="0" err="1"/>
              <a:t>get_weather</a:t>
            </a:r>
            <a:r>
              <a:rPr lang="en-IN" sz="2200" dirty="0"/>
              <a:t>",</a:t>
            </a:r>
          </a:p>
          <a:p>
            <a:pPr marL="0" indent="0">
              <a:buNone/>
            </a:pPr>
            <a:r>
              <a:rPr lang="en-IN" sz="2200" dirty="0"/>
              <a:t>  "parameters": {</a:t>
            </a:r>
          </a:p>
          <a:p>
            <a:pPr marL="0" indent="0">
              <a:buNone/>
            </a:pPr>
            <a:r>
              <a:rPr lang="en-IN" sz="2200" dirty="0"/>
              <a:t>    "city": "string",</a:t>
            </a:r>
          </a:p>
          <a:p>
            <a:pPr marL="0" indent="0">
              <a:buNone/>
            </a:pPr>
            <a:r>
              <a:rPr lang="en-IN" sz="2200" dirty="0"/>
              <a:t>    "date": "string"</a:t>
            </a:r>
          </a:p>
          <a:p>
            <a:pPr marL="0" indent="0">
              <a:buNone/>
            </a:pPr>
            <a:r>
              <a:rPr lang="en-IN" sz="2200" dirty="0"/>
              <a:t>  }</a:t>
            </a:r>
          </a:p>
          <a:p>
            <a:pPr marL="0" indent="0">
              <a:buNone/>
            </a:pPr>
            <a:r>
              <a:rPr lang="en-IN" sz="2200" dirty="0"/>
              <a:t>}</a:t>
            </a:r>
          </a:p>
          <a:p>
            <a:pPr marL="0" indent="0">
              <a:buNone/>
            </a:pPr>
            <a:endParaRPr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6494B-D166-4F04-EEDF-B8B609278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2" y="1600200"/>
            <a:ext cx="4038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Generated arguments</a:t>
            </a:r>
            <a:r>
              <a:rPr lang="en-IN" sz="2000" dirty="0"/>
              <a:t>: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"city": "Pune",</a:t>
            </a:r>
          </a:p>
          <a:p>
            <a:pPr marL="0" indent="0">
              <a:buNone/>
            </a:pPr>
            <a:r>
              <a:rPr lang="en-IN" sz="2000" dirty="0"/>
              <a:t>  "date": "2026-06-10"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r>
              <a:rPr lang="en-IN" sz="2000" b="1" dirty="0"/>
              <a:t>Tool response</a:t>
            </a:r>
            <a:r>
              <a:rPr lang="en-IN" sz="2000" dirty="0"/>
              <a:t>: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"temperature": "32°C",</a:t>
            </a:r>
          </a:p>
          <a:p>
            <a:pPr marL="0" indent="0">
              <a:buNone/>
            </a:pPr>
            <a:r>
              <a:rPr lang="en-IN" sz="2000" dirty="0"/>
              <a:t>  "condition": "Sunny"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u="sng" dirty="0"/>
              <a:t>Human‑readable: </a:t>
            </a:r>
            <a:r>
              <a:rPr lang="en-IN" sz="2000" b="1" i="1" u="sng" dirty="0"/>
              <a:t>“It’s 32°C and sunny in Pune today.”</a:t>
            </a:r>
            <a:endParaRPr lang="en-IN" sz="2000" b="1" u="sng" dirty="0"/>
          </a:p>
          <a:p>
            <a:pPr marL="0" indent="0">
              <a:buNone/>
            </a:pPr>
            <a:endParaRPr lang="en-IN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Name</a:t>
            </a:r>
            <a:r>
              <a:rPr lang="en-IN" dirty="0"/>
              <a:t> Unique identifier for the function, used by the LLM to select the correct action. </a:t>
            </a:r>
            <a:r>
              <a:rPr lang="en-IN" i="1" dirty="0"/>
              <a:t>Example</a:t>
            </a:r>
            <a:r>
              <a:rPr lang="en-IN" dirty="0"/>
              <a:t>: "</a:t>
            </a:r>
            <a:r>
              <a:rPr lang="en-IN" dirty="0" err="1"/>
              <a:t>get_weather</a:t>
            </a:r>
            <a:r>
              <a:rPr lang="en-IN" dirty="0"/>
              <a:t>"</a:t>
            </a:r>
          </a:p>
          <a:p>
            <a:r>
              <a:rPr lang="en-IN" b="1" dirty="0"/>
              <a:t>Description</a:t>
            </a:r>
            <a:r>
              <a:rPr lang="en-IN" dirty="0"/>
              <a:t> Human‑readable explanation of what the function does, guiding the model’s choice. </a:t>
            </a:r>
            <a:r>
              <a:rPr lang="en-IN" i="1" dirty="0"/>
              <a:t>Example</a:t>
            </a:r>
            <a:r>
              <a:rPr lang="en-IN" dirty="0"/>
              <a:t>: "Retrieves current weather information for a given city."</a:t>
            </a:r>
          </a:p>
          <a:p>
            <a:r>
              <a:rPr lang="en-IN" b="1" dirty="0"/>
              <a:t>Parameters</a:t>
            </a:r>
            <a:r>
              <a:rPr lang="en-IN" dirty="0"/>
              <a:t> Structured inputs (with types) that the function requires. </a:t>
            </a:r>
            <a:r>
              <a:rPr lang="en-IN" i="1" dirty="0"/>
              <a:t>Example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"city": "string",</a:t>
            </a:r>
          </a:p>
          <a:p>
            <a:pPr marL="0" indent="0">
              <a:buNone/>
            </a:pPr>
            <a:r>
              <a:rPr lang="en-IN" dirty="0"/>
              <a:t>  "date": "string"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Required fields</a:t>
            </a:r>
            <a:r>
              <a:rPr lang="en-IN" dirty="0"/>
              <a:t> Mandatory parameters the model must provide for successful execution. </a:t>
            </a:r>
            <a:r>
              <a:rPr lang="en-IN" i="1" dirty="0"/>
              <a:t>Example</a:t>
            </a:r>
            <a:r>
              <a:rPr lang="en-IN" dirty="0"/>
              <a:t>: ["city"]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in Tool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Missing parameters</a:t>
            </a:r>
            <a:r>
              <a:rPr lang="en-IN" dirty="0"/>
              <a:t> If the model fails to provide required inputs, validation catches the error and prompts for correction. </a:t>
            </a:r>
            <a:r>
              <a:rPr lang="en-IN" i="1" dirty="0"/>
              <a:t>Example</a:t>
            </a:r>
            <a:r>
              <a:rPr lang="en-IN" dirty="0"/>
              <a:t>: city field missing in a weather lookup.</a:t>
            </a:r>
          </a:p>
          <a:p>
            <a:r>
              <a:rPr lang="en-IN" b="1" dirty="0"/>
              <a:t>Invalid types</a:t>
            </a:r>
            <a:r>
              <a:rPr lang="en-IN" dirty="0"/>
              <a:t> Schema validation ensures arguments match expected types. </a:t>
            </a:r>
            <a:r>
              <a:rPr lang="en-IN" i="1" dirty="0"/>
              <a:t>Example</a:t>
            </a:r>
            <a:r>
              <a:rPr lang="en-IN" dirty="0"/>
              <a:t>: age provided as "twenty" instead of 20.</a:t>
            </a:r>
          </a:p>
          <a:p>
            <a:r>
              <a:rPr lang="en-IN" b="1" dirty="0"/>
              <a:t>Tool failures</a:t>
            </a:r>
            <a:r>
              <a:rPr lang="en-IN" dirty="0"/>
              <a:t> External tools may fail due to network errors, expired certificates, or unavailable services. The system must log the error, retry if safe, or return a graceful fallback message.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1460</Words>
  <Application>Microsoft Office PowerPoint</Application>
  <PresentationFormat>On-screen Show (4:3)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Structured Output &amp; Tool Calling</vt:lpstr>
      <vt:lpstr>Why Structured Outputs?</vt:lpstr>
      <vt:lpstr>What is Structured Output?</vt:lpstr>
      <vt:lpstr>Unstructured vs Structured Output</vt:lpstr>
      <vt:lpstr>Introduction to JSON</vt:lpstr>
      <vt:lpstr>PowerPoint Presentation</vt:lpstr>
      <vt:lpstr>JSON Data Types</vt:lpstr>
      <vt:lpstr>Why JSON is Important for AI</vt:lpstr>
      <vt:lpstr>Schema Validation Workflow</vt:lpstr>
      <vt:lpstr>PowerPoint Presentation</vt:lpstr>
      <vt:lpstr>Structured Output in LLMs</vt:lpstr>
      <vt:lpstr>Function Calling Overview</vt:lpstr>
      <vt:lpstr>What is Tool Calling?</vt:lpstr>
      <vt:lpstr>Function Calling Architecture</vt:lpstr>
      <vt:lpstr>When to Use Function Calling</vt:lpstr>
      <vt:lpstr>Tool Calling Workflow</vt:lpstr>
      <vt:lpstr>Example: Weather Tool</vt:lpstr>
      <vt:lpstr>Function Schema Design</vt:lpstr>
      <vt:lpstr>Error Handling in Tool Calling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Khushboo Sachdeva</cp:lastModifiedBy>
  <cp:revision>4</cp:revision>
  <dcterms:created xsi:type="dcterms:W3CDTF">2013-01-27T09:14:16Z</dcterms:created>
  <dcterms:modified xsi:type="dcterms:W3CDTF">2026-06-10T14:42:29Z</dcterms:modified>
  <cp:category/>
</cp:coreProperties>
</file>