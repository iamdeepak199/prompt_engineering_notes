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1" r:id="rId10"/>
    <p:sldId id="269" r:id="rId11"/>
    <p:sldId id="262" r:id="rId12"/>
    <p:sldId id="264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5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Prompting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Self-Consistency, ReAct, and Tree-of-Thoughts</a:t>
            </a:r>
          </a:p>
          <a:p>
            <a:r>
              <a:t>For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Why advanced prompting?</a:t>
            </a:r>
          </a:p>
          <a:p>
            <a:pPr marL="0" indent="0">
              <a:buNone/>
              <a:defRPr sz="2200"/>
            </a:pPr>
            <a:r>
              <a:rPr dirty="0"/>
              <a:t>• Self-Consistency</a:t>
            </a:r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ReAct</a:t>
            </a:r>
            <a:endParaRPr dirty="0"/>
          </a:p>
          <a:p>
            <a:pPr marL="0" indent="0">
              <a:buNone/>
              <a:defRPr sz="2200"/>
            </a:pPr>
            <a:r>
              <a:rPr dirty="0"/>
              <a:t>• Tree-of-Thoughts</a:t>
            </a:r>
          </a:p>
          <a:p>
            <a:pPr marL="0" indent="0">
              <a:buNone/>
              <a:defRPr sz="2200"/>
            </a:pPr>
            <a:r>
              <a:rPr dirty="0"/>
              <a:t>• Comparison</a:t>
            </a:r>
          </a:p>
          <a:p>
            <a:pPr marL="0" indent="0">
              <a:buNone/>
              <a:defRPr sz="2200"/>
            </a:pPr>
            <a:r>
              <a:rPr dirty="0"/>
              <a:t>• Best Practices</a:t>
            </a:r>
          </a:p>
          <a:p>
            <a:pPr marL="0" indent="0">
              <a:buNone/>
              <a:defRPr sz="2200"/>
            </a:pPr>
            <a:r>
              <a:rPr dirty="0"/>
              <a:t>• Interview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Advanced Prompting?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Improves reasoning quality</a:t>
            </a:r>
          </a:p>
          <a:p>
            <a:pPr marL="0" indent="0">
              <a:buNone/>
              <a:defRPr sz="2200"/>
            </a:pPr>
            <a:r>
              <a:rPr dirty="0"/>
              <a:t>• Reduces incorrect answers</a:t>
            </a:r>
          </a:p>
          <a:p>
            <a:pPr marL="0" indent="0">
              <a:buNone/>
              <a:defRPr sz="2200"/>
            </a:pPr>
            <a:r>
              <a:rPr dirty="0"/>
              <a:t>• Helps with complex multi-step problems</a:t>
            </a:r>
          </a:p>
          <a:p>
            <a:pPr marL="0" indent="0">
              <a:buNone/>
              <a:defRPr sz="2200"/>
            </a:pPr>
            <a:r>
              <a:rPr dirty="0"/>
              <a:t>• Enables planning and tool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2676"/>
          </a:xfrm>
        </p:spPr>
        <p:txBody>
          <a:bodyPr>
            <a:normAutofit fontScale="90000"/>
          </a:bodyPr>
          <a:lstStyle/>
          <a:p>
            <a:r>
              <a:rPr dirty="0"/>
              <a:t>Self-Consistency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514" y="947058"/>
            <a:ext cx="4354286" cy="5179106"/>
          </a:xfrm>
        </p:spPr>
        <p:txBody>
          <a:bodyPr>
            <a:noAutofit/>
          </a:bodyPr>
          <a:lstStyle/>
          <a:p>
            <a:pPr marL="0" indent="0">
              <a:buNone/>
              <a:defRPr sz="2200"/>
            </a:pPr>
            <a:r>
              <a:rPr lang="en-IN" sz="2200" b="1" dirty="0"/>
              <a:t>Definition:</a:t>
            </a:r>
          </a:p>
          <a:p>
            <a:pPr marL="0" indent="0">
              <a:buNone/>
              <a:defRPr sz="2200"/>
            </a:pPr>
            <a:r>
              <a:rPr lang="en-IN" sz="2200" dirty="0"/>
              <a:t>Requesting the model to generate multiple different responses for the same query, then asking it to identify or vote on the most accurate and coherent one. </a:t>
            </a:r>
          </a:p>
          <a:p>
            <a:pPr marL="0" indent="0">
              <a:buNone/>
              <a:defRPr sz="2200"/>
            </a:pPr>
            <a:endParaRPr sz="2200" dirty="0"/>
          </a:p>
          <a:p>
            <a:pPr marL="0" indent="0">
              <a:buNone/>
              <a:defRPr sz="2200"/>
            </a:pPr>
            <a:r>
              <a:rPr sz="2200" b="1" dirty="0"/>
              <a:t>Workflow:</a:t>
            </a:r>
          </a:p>
          <a:p>
            <a:pPr marL="0" indent="0">
              <a:buNone/>
            </a:pPr>
            <a:r>
              <a:rPr lang="en-IN" sz="2200" b="1" dirty="0"/>
              <a:t>Question</a:t>
            </a:r>
            <a:r>
              <a:rPr lang="en-IN" sz="2200" dirty="0"/>
              <a:t> → Input problem or query.</a:t>
            </a:r>
          </a:p>
          <a:p>
            <a:pPr marL="0" indent="0">
              <a:buNone/>
            </a:pPr>
            <a:r>
              <a:rPr lang="en-IN" sz="2200" b="1" dirty="0"/>
              <a:t>Multiple Reasoning Paths</a:t>
            </a:r>
            <a:r>
              <a:rPr lang="en-IN" sz="2200" dirty="0"/>
              <a:t> → Model explores diverse logical chains.</a:t>
            </a:r>
          </a:p>
          <a:p>
            <a:pPr marL="0" indent="0">
              <a:buNone/>
            </a:pPr>
            <a:r>
              <a:rPr lang="en-IN" sz="2200" b="1" dirty="0"/>
              <a:t>Majority Answer</a:t>
            </a:r>
            <a:r>
              <a:rPr lang="en-IN" sz="2200" dirty="0"/>
              <a:t> → Final output chosen based on consistency across paths.</a:t>
            </a:r>
          </a:p>
          <a:p>
            <a:pPr marL="0" indent="0">
              <a:buNone/>
              <a:defRPr sz="2200"/>
            </a:pPr>
            <a:endParaRPr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8B6A3-A56B-826E-98E7-B775B872B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947058"/>
            <a:ext cx="4354286" cy="5636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Why It Works</a:t>
            </a:r>
          </a:p>
          <a:p>
            <a:pPr marL="0" indent="0">
              <a:buNone/>
            </a:pPr>
            <a:r>
              <a:rPr lang="en-IN" sz="2000" dirty="0"/>
              <a:t>Reduces reliance on a single reasoning chain (which may be flawed).</a:t>
            </a:r>
          </a:p>
          <a:p>
            <a:pPr marL="0" indent="0">
              <a:buNone/>
            </a:pPr>
            <a:r>
              <a:rPr lang="en-IN" sz="2000" dirty="0"/>
              <a:t>Aggregates diverse perspectives to improve accuracy.</a:t>
            </a:r>
          </a:p>
          <a:p>
            <a:pPr marL="0" indent="0">
              <a:buNone/>
            </a:pPr>
            <a:r>
              <a:rPr lang="en-IN" sz="2000" dirty="0"/>
              <a:t>Mimics human-style consensus building.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  <a:defRPr sz="2200"/>
            </a:pPr>
            <a:r>
              <a:rPr lang="en-US" sz="2000" b="1" dirty="0"/>
              <a:t>Example-</a:t>
            </a:r>
          </a:p>
          <a:p>
            <a:pPr marL="0" indent="0">
              <a:buNone/>
              <a:defRPr sz="2200"/>
            </a:pPr>
            <a:r>
              <a:rPr lang="en-US" sz="2000" dirty="0"/>
              <a:t>For educational purposes, demonstrate the concept of self-consistency. </a:t>
            </a:r>
            <a:br>
              <a:rPr lang="en-US" sz="2000" dirty="0"/>
            </a:br>
            <a:r>
              <a:rPr lang="en-US" sz="2000" dirty="0"/>
              <a:t>Question: What is 47 × 29? </a:t>
            </a:r>
          </a:p>
          <a:p>
            <a:pPr marL="0" indent="0">
              <a:buNone/>
              <a:defRPr sz="2200"/>
            </a:pPr>
            <a:r>
              <a:rPr lang="en-US" sz="2000" dirty="0"/>
              <a:t>Present three different valid solution methods (for example, distributive property, decomposition, and standard multiplication). Then compare their results and report the majority (or unanimous) answer.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7664-6A84-171B-FF2B-3BB501658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10985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Use Cases</a:t>
            </a:r>
          </a:p>
          <a:p>
            <a:r>
              <a:rPr lang="en-IN" b="1" dirty="0"/>
              <a:t>Math Problems</a:t>
            </a:r>
            <a:r>
              <a:rPr lang="en-IN" dirty="0"/>
              <a:t> → Ensures correct calculations by majority validation.</a:t>
            </a:r>
          </a:p>
          <a:p>
            <a:r>
              <a:rPr lang="en-IN" b="1" dirty="0"/>
              <a:t>Logical Reasoning</a:t>
            </a:r>
            <a:r>
              <a:rPr lang="en-IN" dirty="0"/>
              <a:t> → Filters out inconsistent logic steps.</a:t>
            </a:r>
          </a:p>
          <a:p>
            <a:r>
              <a:rPr lang="en-IN" b="1" dirty="0"/>
              <a:t>Question Answering</a:t>
            </a:r>
            <a:r>
              <a:rPr lang="en-IN" dirty="0"/>
              <a:t> → Improves factual reliability in knowledge-based queries.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82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(Reason + 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1600200"/>
            <a:ext cx="4332514" cy="48876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</a:p>
          <a:p>
            <a:pPr marL="0" indent="0">
              <a:buNone/>
            </a:pPr>
            <a:r>
              <a:rPr lang="en-IN" dirty="0"/>
              <a:t>Model alternates between </a:t>
            </a:r>
            <a:r>
              <a:rPr lang="en-IN" b="1" dirty="0"/>
              <a:t>reasoning</a:t>
            </a:r>
            <a:r>
              <a:rPr lang="en-IN" dirty="0"/>
              <a:t> and </a:t>
            </a:r>
            <a:r>
              <a:rPr lang="en-IN" b="1" dirty="0"/>
              <a:t>actions</a:t>
            </a:r>
            <a:r>
              <a:rPr lang="en-IN" dirty="0"/>
              <a:t> (tool/API/search) until reaching the final answer.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Why It Works</a:t>
            </a:r>
          </a:p>
          <a:p>
            <a:pPr marL="0" indent="0">
              <a:buNone/>
            </a:pPr>
            <a:r>
              <a:rPr lang="en-IN" dirty="0"/>
              <a:t>Combines reasoning with external execution.</a:t>
            </a:r>
          </a:p>
          <a:p>
            <a:pPr marL="0" indent="0">
              <a:buNone/>
            </a:pPr>
            <a:r>
              <a:rPr lang="en-IN" dirty="0"/>
              <a:t>Breaks tasks into cycles of </a:t>
            </a:r>
            <a:r>
              <a:rPr lang="en-IN" b="1" dirty="0"/>
              <a:t>thinking + doing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Mimics human agent workflows.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45493-5DC4-C8D7-9166-46B9D7A18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32514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Use Cases</a:t>
            </a:r>
          </a:p>
          <a:p>
            <a:pPr marL="0" indent="0">
              <a:buNone/>
            </a:pPr>
            <a:r>
              <a:rPr lang="en-IN" b="1" dirty="0"/>
              <a:t>Agents</a:t>
            </a:r>
            <a:r>
              <a:rPr lang="en-IN" dirty="0"/>
              <a:t> → Autonomous reasoning + tool use.</a:t>
            </a:r>
          </a:p>
          <a:p>
            <a:pPr marL="0" indent="0">
              <a:buNone/>
            </a:pPr>
            <a:r>
              <a:rPr lang="en-IN" b="1" dirty="0"/>
              <a:t>Web Search</a:t>
            </a:r>
            <a:r>
              <a:rPr lang="en-IN" dirty="0"/>
              <a:t> → Querying external knowledge.</a:t>
            </a:r>
          </a:p>
          <a:p>
            <a:pPr marL="0" indent="0">
              <a:buNone/>
            </a:pPr>
            <a:r>
              <a:rPr lang="en-IN" b="1" dirty="0"/>
              <a:t>Databases</a:t>
            </a:r>
            <a:r>
              <a:rPr lang="en-IN" dirty="0"/>
              <a:t> → Fetching structured data.</a:t>
            </a:r>
          </a:p>
          <a:p>
            <a:pPr marL="0" indent="0">
              <a:buNone/>
            </a:pPr>
            <a:r>
              <a:rPr lang="en-IN" b="1" dirty="0"/>
              <a:t>APIs</a:t>
            </a:r>
            <a:r>
              <a:rPr lang="en-IN" dirty="0"/>
              <a:t> → Integrating external services.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Pattern</a:t>
            </a:r>
          </a:p>
          <a:p>
            <a:pPr marL="0" indent="0">
              <a:buNone/>
            </a:pPr>
            <a:r>
              <a:rPr lang="en-IN" b="1" dirty="0"/>
              <a:t>Thought → Action → Observation → Thought → Final Answer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9B15E-7D74-5D32-20B5-5B6B39179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424544"/>
            <a:ext cx="3091543" cy="5701620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You are connected to a company database.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Available Tool:</a:t>
            </a:r>
            <a:br>
              <a:rPr lang="en-IN" dirty="0"/>
            </a:br>
            <a:r>
              <a:rPr lang="en-IN" dirty="0" err="1"/>
              <a:t>execute_sql</a:t>
            </a:r>
            <a:r>
              <a:rPr lang="en-IN" dirty="0"/>
              <a:t>(query)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Question:</a:t>
            </a:r>
            <a:br>
              <a:rPr lang="en-IN" dirty="0"/>
            </a:br>
            <a:r>
              <a:rPr lang="en-IN" dirty="0"/>
              <a:t>Which employee has the highest salary?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9E154-1BD5-B29E-CA1D-728AB6B52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5314" y="424543"/>
            <a:ext cx="4811486" cy="60851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Which employee has the highest salary?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Thought:</a:t>
            </a:r>
          </a:p>
          <a:p>
            <a:pPr marL="0" indent="0">
              <a:buNone/>
            </a:pPr>
            <a:r>
              <a:rPr lang="en-US" dirty="0"/>
              <a:t>I need to query the employee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Action:</a:t>
            </a:r>
          </a:p>
          <a:p>
            <a:pPr marL="0" indent="0">
              <a:buNone/>
            </a:pPr>
            <a:r>
              <a:rPr lang="en-US" dirty="0" err="1"/>
              <a:t>execute_sql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SELECT name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ORDER BY salary DESC</a:t>
            </a:r>
          </a:p>
          <a:p>
            <a:pPr marL="0" indent="0">
              <a:buNone/>
            </a:pPr>
            <a:r>
              <a:rPr lang="en-US" dirty="0"/>
              <a:t>LIMIT 1;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Observation:</a:t>
            </a:r>
          </a:p>
          <a:p>
            <a:pPr marL="0" indent="0">
              <a:buNone/>
            </a:pPr>
            <a:r>
              <a:rPr lang="en-US" dirty="0"/>
              <a:t>Priya Sharma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marL="0" indent="0">
              <a:buNone/>
            </a:pPr>
            <a:r>
              <a:rPr lang="en-US" dirty="0"/>
              <a:t>The employee with the highest salary is Priya Sharma.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86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AF918-74D4-273D-A5B9-7DF5A71CBE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You can search the internet.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Available Tool:</a:t>
            </a:r>
            <a:br>
              <a:rPr lang="en-IN" dirty="0"/>
            </a:br>
            <a:r>
              <a:rPr lang="en-IN" dirty="0"/>
              <a:t>Search(query)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Question:</a:t>
            </a:r>
            <a:br>
              <a:rPr lang="en-IN" dirty="0"/>
            </a:br>
            <a:r>
              <a:rPr lang="en-IN" dirty="0"/>
              <a:t>Who won the FIFA World Cup in 2022?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4495A-660C-A20A-EAE0-FD283951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52400"/>
            <a:ext cx="4299857" cy="6477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Who won the FIFA World Cup in 2022?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Thought:</a:t>
            </a:r>
          </a:p>
          <a:p>
            <a:pPr marL="0" indent="0">
              <a:buNone/>
            </a:pPr>
            <a:r>
              <a:rPr lang="en-US" dirty="0"/>
              <a:t>I need to search for the winner.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Action:</a:t>
            </a:r>
          </a:p>
          <a:p>
            <a:pPr marL="0" indent="0">
              <a:buNone/>
            </a:pPr>
            <a:r>
              <a:rPr lang="en-US" dirty="0"/>
              <a:t>Search("2022 FIFA World Cup winner")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Observation:</a:t>
            </a:r>
          </a:p>
          <a:p>
            <a:pPr marL="0" indent="0">
              <a:buNone/>
            </a:pPr>
            <a:r>
              <a:rPr lang="en-US" dirty="0"/>
              <a:t>Argentina defeated France.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marL="0" indent="0">
              <a:buNone/>
            </a:pPr>
            <a:r>
              <a:rPr lang="en-US" dirty="0"/>
              <a:t>Argentina won the FIFA World Cup in 2022.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22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Tree-of-Thoughts (</a:t>
            </a:r>
            <a:r>
              <a:rPr dirty="0" err="1"/>
              <a:t>ToT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1055914"/>
            <a:ext cx="4767943" cy="5527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Definition</a:t>
            </a:r>
          </a:p>
          <a:p>
            <a:pPr marL="0" indent="0">
              <a:buNone/>
            </a:pPr>
            <a:r>
              <a:rPr lang="en-IN" sz="2000" dirty="0"/>
              <a:t>Explores </a:t>
            </a:r>
            <a:r>
              <a:rPr lang="en-IN" sz="2000" b="1" dirty="0"/>
              <a:t>multiple reasoning branches</a:t>
            </a:r>
            <a:r>
              <a:rPr lang="en-IN" sz="2000" dirty="0"/>
              <a:t> like a search tree to find the most promising solution.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Workflow</a:t>
            </a:r>
          </a:p>
          <a:p>
            <a:pPr marL="0" indent="0">
              <a:buNone/>
            </a:pPr>
            <a:r>
              <a:rPr lang="en-IN" sz="2000" b="1" dirty="0"/>
              <a:t>Problem → Branches → Evaluate → Keep Best Branch → Answer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Problem</a:t>
            </a:r>
            <a:r>
              <a:rPr lang="en-IN" sz="2000" dirty="0"/>
              <a:t> → Define the goal or question.</a:t>
            </a:r>
          </a:p>
          <a:p>
            <a:pPr marL="0" indent="0">
              <a:buNone/>
            </a:pPr>
            <a:r>
              <a:rPr lang="en-IN" sz="2000" b="1" dirty="0"/>
              <a:t>Branches</a:t>
            </a:r>
            <a:r>
              <a:rPr lang="en-IN" sz="2000" dirty="0"/>
              <a:t> → Generate diverse reasoning paths.</a:t>
            </a:r>
          </a:p>
          <a:p>
            <a:pPr marL="0" indent="0">
              <a:buNone/>
            </a:pPr>
            <a:r>
              <a:rPr lang="en-IN" sz="2000" b="1" dirty="0"/>
              <a:t>Evaluate</a:t>
            </a:r>
            <a:r>
              <a:rPr lang="en-IN" sz="2000" dirty="0"/>
              <a:t> → Assess each branch’s quality or outcome.</a:t>
            </a:r>
          </a:p>
          <a:p>
            <a:pPr marL="0" indent="0">
              <a:buNone/>
            </a:pPr>
            <a:r>
              <a:rPr lang="en-IN" sz="2000" b="1" dirty="0"/>
              <a:t>Keep Best Branch</a:t>
            </a:r>
            <a:r>
              <a:rPr lang="en-IN" sz="2000" dirty="0"/>
              <a:t> → Retain the most logical or optimal path.</a:t>
            </a:r>
          </a:p>
          <a:p>
            <a:pPr marL="0" indent="0">
              <a:buNone/>
            </a:pPr>
            <a:r>
              <a:rPr lang="en-IN" sz="2000" b="1" dirty="0"/>
              <a:t>Answer</a:t>
            </a:r>
            <a:r>
              <a:rPr lang="en-IN" sz="2000" dirty="0"/>
              <a:t> → Produce the final solution.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3BFA4-C64D-F1EE-BC82-C637EE28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2114" y="1164771"/>
            <a:ext cx="4038600" cy="53423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Use Cases</a:t>
            </a:r>
          </a:p>
          <a:p>
            <a:pPr marL="0" indent="0">
              <a:buNone/>
            </a:pPr>
            <a:r>
              <a:rPr lang="en-IN" b="1" dirty="0"/>
              <a:t>Planning</a:t>
            </a:r>
            <a:r>
              <a:rPr lang="en-IN" dirty="0"/>
              <a:t> → Strategic decision-making.</a:t>
            </a:r>
          </a:p>
          <a:p>
            <a:pPr marL="0" indent="0">
              <a:buNone/>
            </a:pPr>
            <a:r>
              <a:rPr lang="en-IN" b="1" dirty="0"/>
              <a:t>Puzzles</a:t>
            </a:r>
            <a:r>
              <a:rPr lang="en-IN" dirty="0"/>
              <a:t> → Logical problem solving.</a:t>
            </a:r>
          </a:p>
          <a:p>
            <a:pPr marL="0" indent="0">
              <a:buNone/>
            </a:pPr>
            <a:r>
              <a:rPr lang="en-IN" b="1" dirty="0"/>
              <a:t>Coding</a:t>
            </a:r>
            <a:r>
              <a:rPr lang="en-IN" dirty="0"/>
              <a:t> → Algorithm design and debugging.</a:t>
            </a:r>
          </a:p>
          <a:p>
            <a:pPr marL="0" indent="0">
              <a:buNone/>
            </a:pPr>
            <a:r>
              <a:rPr lang="en-IN" b="1" dirty="0"/>
              <a:t>Optimization</a:t>
            </a:r>
            <a:r>
              <a:rPr lang="en-IN" dirty="0"/>
              <a:t> → Selecting best outcomes among alternatives.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Why It Works</a:t>
            </a:r>
          </a:p>
          <a:p>
            <a:pPr marL="0" indent="0">
              <a:buNone/>
            </a:pPr>
            <a:r>
              <a:rPr lang="en-IN" dirty="0"/>
              <a:t>Encourages </a:t>
            </a:r>
            <a:r>
              <a:rPr lang="en-IN" b="1" dirty="0"/>
              <a:t>structured exploration</a:t>
            </a:r>
            <a:r>
              <a:rPr lang="en-IN" dirty="0"/>
              <a:t> of ideas.</a:t>
            </a:r>
          </a:p>
          <a:p>
            <a:pPr marL="0" indent="0">
              <a:buNone/>
            </a:pPr>
            <a:r>
              <a:rPr lang="en-IN" dirty="0"/>
              <a:t>Allows </a:t>
            </a:r>
            <a:r>
              <a:rPr lang="en-IN" b="1" dirty="0"/>
              <a:t>backtracking and pruning</a:t>
            </a:r>
            <a:r>
              <a:rPr lang="en-IN" dirty="0"/>
              <a:t> of weak reasoning paths.</a:t>
            </a:r>
          </a:p>
          <a:p>
            <a:pPr marL="0" indent="0">
              <a:buNone/>
            </a:pPr>
            <a:r>
              <a:rPr lang="en-IN" dirty="0"/>
              <a:t>Ideal for </a:t>
            </a:r>
            <a:r>
              <a:rPr lang="en-IN" b="1" dirty="0"/>
              <a:t>complex or multi-step problems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B7B6-038E-F18D-4ACD-2B7E01172A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Examples:</a:t>
            </a:r>
          </a:p>
          <a:p>
            <a:r>
              <a:rPr lang="en-IN" dirty="0"/>
              <a:t>Solve the following problem using the Tree of Thoughts approach.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Question:</a:t>
            </a:r>
            <a:br>
              <a:rPr lang="en-IN" dirty="0"/>
            </a:br>
            <a:r>
              <a:rPr lang="en-IN" dirty="0"/>
              <a:t>A farmer has 20 apples. He sells 8, gives away 3, and buys 5 more.</a:t>
            </a:r>
            <a:br>
              <a:rPr lang="en-IN" dirty="0"/>
            </a:br>
            <a:r>
              <a:rPr lang="en-IN" dirty="0"/>
              <a:t>How many apples does he have?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29C12-2E6A-6DCD-CE7D-37157F3291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You are planning a trip from Pune to Goa.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Consider multiple travel options before choosing the best one.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Factors:</a:t>
            </a:r>
            <a:br>
              <a:rPr lang="en-IN" dirty="0"/>
            </a:br>
            <a:r>
              <a:rPr lang="en-IN" dirty="0"/>
              <a:t>- Cost</a:t>
            </a:r>
            <a:br>
              <a:rPr lang="en-IN" dirty="0"/>
            </a:br>
            <a:r>
              <a:rPr lang="en-IN" dirty="0"/>
              <a:t>- Time</a:t>
            </a:r>
            <a:br>
              <a:rPr lang="en-IN" dirty="0"/>
            </a:br>
            <a:r>
              <a:rPr lang="en-IN" dirty="0"/>
              <a:t>- Comfort</a:t>
            </a:r>
          </a:p>
        </p:txBody>
      </p:sp>
    </p:spTree>
    <p:extLst>
      <p:ext uri="{BB962C8B-B14F-4D97-AF65-F5344CB8AC3E}">
        <p14:creationId xmlns:p14="http://schemas.microsoft.com/office/powerpoint/2010/main" val="152331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Self-Consistency:</a:t>
            </a:r>
          </a:p>
          <a:p>
            <a:pPr marL="0" indent="0">
              <a:buNone/>
              <a:defRPr sz="2200"/>
            </a:pPr>
            <a:r>
              <a:rPr dirty="0"/>
              <a:t>• Multiple complete solutions</a:t>
            </a:r>
          </a:p>
          <a:p>
            <a:pPr marL="0" indent="0">
              <a:buNone/>
              <a:defRPr sz="2200"/>
            </a:pPr>
            <a:r>
              <a:rPr dirty="0"/>
              <a:t>• Vote on final answer</a:t>
            </a:r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 err="1"/>
              <a:t>ReAct</a:t>
            </a:r>
            <a:r>
              <a:rPr dirty="0"/>
              <a:t>:</a:t>
            </a:r>
          </a:p>
          <a:p>
            <a:pPr marL="0" indent="0">
              <a:buNone/>
              <a:defRPr sz="2200"/>
            </a:pPr>
            <a:r>
              <a:rPr dirty="0"/>
              <a:t>• Reason + external actions</a:t>
            </a:r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Tree-of-Thoughts:</a:t>
            </a:r>
          </a:p>
          <a:p>
            <a:pPr marL="0" indent="0">
              <a:buNone/>
              <a:defRPr sz="2200"/>
            </a:pPr>
            <a:r>
              <a:rPr dirty="0"/>
              <a:t>• Explore many reasoning branches before deciding.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Use for difficult tasks only.</a:t>
            </a:r>
          </a:p>
          <a:p>
            <a:pPr marL="0" indent="0">
              <a:buNone/>
              <a:defRPr sz="2200"/>
            </a:pPr>
            <a:r>
              <a:rPr dirty="0"/>
              <a:t>• Combine </a:t>
            </a:r>
            <a:r>
              <a:rPr dirty="0" err="1"/>
              <a:t>ReAct</a:t>
            </a:r>
            <a:r>
              <a:rPr dirty="0"/>
              <a:t> with tools.</a:t>
            </a:r>
          </a:p>
          <a:p>
            <a:pPr marL="0" indent="0">
              <a:buNone/>
              <a:defRPr sz="2200"/>
            </a:pPr>
            <a:r>
              <a:rPr dirty="0"/>
              <a:t>• Use </a:t>
            </a:r>
            <a:r>
              <a:rPr dirty="0" err="1"/>
              <a:t>ToT</a:t>
            </a:r>
            <a:r>
              <a:rPr dirty="0"/>
              <a:t> when planning matters.</a:t>
            </a:r>
          </a:p>
          <a:p>
            <a:pPr marL="0" indent="0">
              <a:buNone/>
              <a:defRPr sz="2200"/>
            </a:pPr>
            <a:r>
              <a:rPr dirty="0"/>
              <a:t>• Validate outputs for critical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2508-661D-37EE-8497-E5F0C31C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267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Hallucination?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4E89-D7AC-2494-7BBF-814D451C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1656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Hallucination</a:t>
            </a:r>
            <a:r>
              <a:rPr lang="en-IN" dirty="0"/>
              <a:t> occurs when an AI model generates </a:t>
            </a:r>
            <a:r>
              <a:rPr lang="en-IN" b="1" dirty="0"/>
              <a:t>incorrect, fabricated, or misleading information</a:t>
            </a:r>
            <a:r>
              <a:rPr lang="en-IN" dirty="0"/>
              <a:t> while presenting it confidently as if it were true.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Why Does Hallucination Happen?</a:t>
            </a:r>
          </a:p>
          <a:p>
            <a:r>
              <a:rPr lang="en-IN" dirty="0"/>
              <a:t>Training data is incomplete or outdated. </a:t>
            </a:r>
          </a:p>
          <a:p>
            <a:r>
              <a:rPr lang="en-IN" dirty="0"/>
              <a:t>The model predicts the most likely next word rather than verifying facts. </a:t>
            </a:r>
          </a:p>
          <a:p>
            <a:r>
              <a:rPr lang="en-IN" dirty="0"/>
              <a:t>Ambiguous or poorly written prompts. </a:t>
            </a:r>
          </a:p>
          <a:p>
            <a:r>
              <a:rPr lang="en-IN" dirty="0"/>
              <a:t>Lack of access to real-time or external information.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10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6626-F110-8360-F896-D2BF921D5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892630"/>
            <a:ext cx="4038600" cy="5233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b="1" dirty="0"/>
              <a:t>Prompt:</a:t>
            </a:r>
            <a:endParaRPr lang="en-IN" dirty="0"/>
          </a:p>
          <a:p>
            <a:r>
              <a:rPr lang="en-IN" dirty="0"/>
              <a:t>Who won the FIFA World Cup in 2028?</a:t>
            </a:r>
          </a:p>
          <a:p>
            <a:pPr marL="0" indent="0">
              <a:buNone/>
            </a:pPr>
            <a:r>
              <a:rPr lang="en-IN" b="1" dirty="0"/>
              <a:t>Hallucinated Response:</a:t>
            </a:r>
            <a:endParaRPr lang="en-IN" dirty="0"/>
          </a:p>
          <a:p>
            <a:r>
              <a:rPr lang="en-IN" dirty="0"/>
              <a:t>Brazil won the 2028 FIFA World Cup.</a:t>
            </a:r>
          </a:p>
          <a:p>
            <a:r>
              <a:rPr lang="en-IN" dirty="0"/>
              <a:t>❌ The tournament has not happened, so the answer is fabricated.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01F330-ED2C-304D-D7FE-099C2B63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664030"/>
            <a:ext cx="4038600" cy="5462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Real-World Impact</a:t>
            </a:r>
          </a:p>
          <a:p>
            <a:r>
              <a:rPr lang="en-IN" dirty="0"/>
              <a:t>Medical misinformation </a:t>
            </a:r>
          </a:p>
          <a:p>
            <a:r>
              <a:rPr lang="en-IN" dirty="0"/>
              <a:t>Incorrect legal advice </a:t>
            </a:r>
          </a:p>
          <a:p>
            <a:r>
              <a:rPr lang="en-IN" dirty="0"/>
              <a:t>Financial errors </a:t>
            </a:r>
          </a:p>
          <a:p>
            <a:r>
              <a:rPr lang="en-IN" dirty="0"/>
              <a:t>Fake references or citations </a:t>
            </a:r>
          </a:p>
          <a:p>
            <a:r>
              <a:rPr lang="en-IN" dirty="0"/>
              <a:t>Poor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361466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BB1F-ECA5-EF91-EBFD-96F2986DD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057"/>
            <a:ext cx="8229600" cy="66729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700" b="1" u="sng" dirty="0"/>
              <a:t>How to Reduce Hallucination</a:t>
            </a:r>
          </a:p>
          <a:p>
            <a:pPr marL="0" indent="0">
              <a:buNone/>
            </a:pPr>
            <a:r>
              <a:rPr lang="en-IN" b="1" dirty="0"/>
              <a:t>1. Retrieval-Augmented Generation (RAG)</a:t>
            </a:r>
            <a:endParaRPr lang="en-IN" dirty="0"/>
          </a:p>
          <a:p>
            <a:r>
              <a:rPr lang="en-IN" dirty="0"/>
              <a:t>The model retrieves relevant information from trusted documents or databases before generating an answer, making responses more accurate and up-to-date. </a:t>
            </a:r>
          </a:p>
          <a:p>
            <a:pPr marL="0" indent="0">
              <a:buNone/>
            </a:pPr>
            <a:r>
              <a:rPr lang="en-IN" b="1" dirty="0"/>
              <a:t>2. Provide Clear and Specific Prompts</a:t>
            </a:r>
            <a:endParaRPr lang="en-IN" dirty="0"/>
          </a:p>
          <a:p>
            <a:r>
              <a:rPr lang="en-IN" dirty="0"/>
              <a:t>Well-defined prompts reduce ambiguity and help the model generate more relevant and accurate responses. </a:t>
            </a:r>
          </a:p>
          <a:p>
            <a:pPr marL="0" indent="0">
              <a:buNone/>
            </a:pPr>
            <a:r>
              <a:rPr lang="en-IN" b="1" dirty="0"/>
              <a:t>3. Ask the Model to Cite Sources</a:t>
            </a:r>
            <a:endParaRPr lang="en-IN" dirty="0"/>
          </a:p>
          <a:p>
            <a:r>
              <a:rPr lang="en-IN" dirty="0"/>
              <a:t>Requesting references or citations makes the response more transparent and allows users to verify the information. </a:t>
            </a:r>
          </a:p>
          <a:p>
            <a:pPr marL="0" indent="0">
              <a:buNone/>
            </a:pPr>
            <a:r>
              <a:rPr lang="en-IN" b="1" dirty="0"/>
              <a:t>4. Verify Responses Using Trusted References</a:t>
            </a:r>
            <a:endParaRPr lang="en-IN" dirty="0"/>
          </a:p>
          <a:p>
            <a:r>
              <a:rPr lang="en-IN" dirty="0"/>
              <a:t>Cross-check important information with reliable sources such as official websites, research papers, or trusted databases before relying on it. </a:t>
            </a:r>
          </a:p>
          <a:p>
            <a:pPr marL="0" indent="0">
              <a:buNone/>
            </a:pPr>
            <a:r>
              <a:rPr lang="en-IN" b="1" dirty="0"/>
              <a:t>5. Use Tool Calling (Search, Database, APIs)</a:t>
            </a:r>
            <a:endParaRPr lang="en-IN" dirty="0"/>
          </a:p>
          <a:p>
            <a:r>
              <a:rPr lang="en-IN" dirty="0"/>
              <a:t>Instead of relying only on its internal knowledge, the model can use external tools like web search, databases, or APIs to fetch real-time and factual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45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21BD-6EA6-6BB3-F2CC-9D9B2633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19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Bias?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8212-727E-9992-5ECE-403DF229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Bias</a:t>
            </a:r>
            <a:r>
              <a:rPr lang="en-IN" dirty="0"/>
              <a:t> occurs when an AI model produces responses that unfairly </a:t>
            </a:r>
            <a:r>
              <a:rPr lang="en-IN" dirty="0" err="1"/>
              <a:t>favor</a:t>
            </a:r>
            <a:r>
              <a:rPr lang="en-IN" dirty="0"/>
              <a:t> or disadvantage certain people, groups, opinions, or outcomes due to patterns learned from training data.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Sources of Bias</a:t>
            </a:r>
          </a:p>
          <a:p>
            <a:r>
              <a:rPr lang="en-IN" dirty="0"/>
              <a:t>Biased training datasets </a:t>
            </a:r>
          </a:p>
          <a:p>
            <a:r>
              <a:rPr lang="en-IN" dirty="0"/>
              <a:t>Historical and societal stereotypes </a:t>
            </a:r>
          </a:p>
          <a:p>
            <a:r>
              <a:rPr lang="en-IN" dirty="0"/>
              <a:t>Imbalanced representation of different groups </a:t>
            </a:r>
          </a:p>
          <a:p>
            <a:r>
              <a:rPr lang="en-IN" dirty="0"/>
              <a:t>Human bias during data collection and annotation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143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EFB0-642C-DE0D-0253-948422AF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36ED-B7BF-6F6A-70C2-49E2F1FD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b="1" dirty="0"/>
              <a:t>Prompt:</a:t>
            </a:r>
            <a:endParaRPr lang="en-IN" dirty="0"/>
          </a:p>
          <a:p>
            <a:r>
              <a:rPr lang="en-IN" dirty="0"/>
              <a:t>Suggest a nurse's name.</a:t>
            </a:r>
          </a:p>
          <a:p>
            <a:pPr marL="0" indent="0">
              <a:buNone/>
            </a:pPr>
            <a:r>
              <a:rPr lang="en-IN" b="1" dirty="0"/>
              <a:t>Biased Response:</a:t>
            </a:r>
            <a:endParaRPr lang="en-IN" dirty="0"/>
          </a:p>
          <a:p>
            <a:r>
              <a:rPr lang="en-IN" dirty="0"/>
              <a:t>Mary</a:t>
            </a:r>
          </a:p>
          <a:p>
            <a:r>
              <a:rPr lang="en-IN" dirty="0"/>
              <a:t>This may unintentionally reinforce the stereotype that nurses are female.</a:t>
            </a:r>
          </a:p>
          <a:p>
            <a:r>
              <a:rPr lang="en-IN" dirty="0"/>
              <a:t>A better response would provide diverse examples.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179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768D-F10C-0459-A9CC-7D0169A9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BF952-A9E9-E402-81F2-100BB239A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How to Reduce Bias</a:t>
            </a:r>
          </a:p>
          <a:p>
            <a:r>
              <a:rPr lang="en-IN" dirty="0"/>
              <a:t>Use diverse and representative datasets </a:t>
            </a:r>
          </a:p>
          <a:p>
            <a:r>
              <a:rPr lang="en-IN" dirty="0"/>
              <a:t>Apply fairness testing </a:t>
            </a:r>
          </a:p>
          <a:p>
            <a:r>
              <a:rPr lang="en-IN" dirty="0"/>
              <a:t>Regularly evaluate model outputs </a:t>
            </a:r>
          </a:p>
          <a:p>
            <a:r>
              <a:rPr lang="en-IN" dirty="0"/>
              <a:t>Use human review for critical applications </a:t>
            </a:r>
          </a:p>
          <a:p>
            <a:r>
              <a:rPr lang="en-IN" dirty="0"/>
              <a:t>Continuously monitor and improve the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27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1133</Words>
  <Application>Microsoft Office PowerPoint</Application>
  <PresentationFormat>On-screen Show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Advanced Prompting Techniques</vt:lpstr>
      <vt:lpstr>Agenda</vt:lpstr>
      <vt:lpstr>Why Advanced Prompting?</vt:lpstr>
      <vt:lpstr>Self-Consistency</vt:lpstr>
      <vt:lpstr>PowerPoint Presentation</vt:lpstr>
      <vt:lpstr>ReAct (Reason + Act)</vt:lpstr>
      <vt:lpstr>PowerPoint Presentation</vt:lpstr>
      <vt:lpstr>PowerPoint Presentation</vt:lpstr>
      <vt:lpstr>Tree-of-Thoughts (ToT)</vt:lpstr>
      <vt:lpstr>PowerPoint Presentation</vt:lpstr>
      <vt:lpstr>Comparison</vt:lpstr>
      <vt:lpstr>Best Practices</vt:lpstr>
      <vt:lpstr>What is Hallucination?</vt:lpstr>
      <vt:lpstr>PowerPoint Presentation</vt:lpstr>
      <vt:lpstr>PowerPoint Presentation</vt:lpstr>
      <vt:lpstr>What is Bias?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2</cp:revision>
  <dcterms:created xsi:type="dcterms:W3CDTF">2013-01-27T09:14:16Z</dcterms:created>
  <dcterms:modified xsi:type="dcterms:W3CDTF">2026-06-23T19:50:34Z</dcterms:modified>
  <cp:category/>
</cp:coreProperties>
</file>