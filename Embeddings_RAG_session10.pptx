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08" r:id="rId4"/>
    <p:sldId id="258" r:id="rId5"/>
    <p:sldId id="260" r:id="rId6"/>
    <p:sldId id="305" r:id="rId7"/>
    <p:sldId id="261" r:id="rId8"/>
    <p:sldId id="262" r:id="rId9"/>
    <p:sldId id="269" r:id="rId10"/>
    <p:sldId id="270" r:id="rId11"/>
    <p:sldId id="271" r:id="rId12"/>
    <p:sldId id="273" r:id="rId13"/>
    <p:sldId id="274" r:id="rId14"/>
    <p:sldId id="280" r:id="rId15"/>
    <p:sldId id="272" r:id="rId16"/>
    <p:sldId id="281" r:id="rId17"/>
    <p:sldId id="285" r:id="rId18"/>
    <p:sldId id="287" r:id="rId19"/>
    <p:sldId id="307" r:id="rId20"/>
    <p:sldId id="288" r:id="rId21"/>
    <p:sldId id="289" r:id="rId22"/>
    <p:sldId id="295" r:id="rId23"/>
    <p:sldId id="296" r:id="rId24"/>
    <p:sldId id="297" r:id="rId25"/>
    <p:sldId id="298" r:id="rId26"/>
    <p:sldId id="299" r:id="rId27"/>
    <p:sldId id="306" r:id="rId28"/>
    <p:sldId id="300" r:id="rId29"/>
    <p:sldId id="301" r:id="rId30"/>
    <p:sldId id="309" r:id="rId31"/>
    <p:sldId id="315" r:id="rId32"/>
    <p:sldId id="316" r:id="rId33"/>
    <p:sldId id="311" r:id="rId34"/>
    <p:sldId id="312" r:id="rId35"/>
    <p:sldId id="313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ca://s/?q=Prompting_in_LLMs" TargetMode="External"/><Relationship Id="rId2" Type="http://schemas.openxmlformats.org/officeDocument/2006/relationships/hyperlink" Target="ca://s/?q=Fine_tuning_in_machine_learning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ca://s/?q=Retrieval_Augmented_Gener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Embeddings, Vector Similarity &amp; Semantic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embeddings from first principles</a:t>
            </a:r>
          </a:p>
          <a:p>
            <a:pPr marL="0" indent="0">
              <a:buNone/>
            </a:pPr>
            <a:r>
              <a:rPr dirty="0"/>
              <a:t>• Learn vector similarity mathematics</a:t>
            </a:r>
          </a:p>
          <a:p>
            <a:pPr marL="0" indent="0">
              <a:buNone/>
            </a:pPr>
            <a:r>
              <a:rPr dirty="0"/>
              <a:t>• Master semantic search pipelines</a:t>
            </a:r>
          </a:p>
          <a:p>
            <a:pPr marL="0" indent="0">
              <a:buNone/>
            </a:pPr>
            <a:r>
              <a:rPr dirty="0"/>
              <a:t>• Understand vector databases </a:t>
            </a:r>
          </a:p>
          <a:p>
            <a:pPr marL="0" indent="0">
              <a:buNone/>
            </a:pPr>
            <a:r>
              <a:rPr dirty="0"/>
              <a:t>• Build RAG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C30D-E15E-CD77-DA3C-60B3FD4F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9C735-46B4-5ECC-2A0E-9B5965B8A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Simple RAG Pipeline diagram by author.">
            <a:extLst>
              <a:ext uri="{FF2B5EF4-FFF2-40B4-BE49-F238E27FC236}">
                <a16:creationId xmlns:a16="http://schemas.microsoft.com/office/drawing/2014/main" id="{951F3461-54A3-92A2-F714-5348C4D4C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9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8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009"/>
            <a:ext cx="8229600" cy="541791"/>
          </a:xfrm>
        </p:spPr>
        <p:txBody>
          <a:bodyPr>
            <a:normAutofit fontScale="90000"/>
          </a:bodyPr>
          <a:lstStyle/>
          <a:p>
            <a:r>
              <a:rPr dirty="0"/>
              <a:t>Why Search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6429"/>
            <a:ext cx="8229600" cy="5766933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Traditional search systems rely on </a:t>
            </a:r>
            <a:r>
              <a:rPr lang="en-IN" b="1" dirty="0"/>
              <a:t>keyword matching</a:t>
            </a:r>
            <a:r>
              <a:rPr lang="en-IN" dirty="0"/>
              <a:t>, meaning they look for exact words in a query. This often misses relevant results when different words have the same meaning. For example, a search for </a:t>
            </a:r>
            <a:r>
              <a:rPr lang="en-IN" b="1" dirty="0"/>
              <a:t>"automobile repair"</a:t>
            </a:r>
            <a:r>
              <a:rPr lang="en-IN" dirty="0"/>
              <a:t> may not find content containing </a:t>
            </a:r>
            <a:r>
              <a:rPr lang="en-IN" b="1" dirty="0"/>
              <a:t>"car maintenance"</a:t>
            </a:r>
            <a:r>
              <a:rPr lang="en-IN" dirty="0"/>
              <a:t>.</a:t>
            </a:r>
          </a:p>
          <a:p>
            <a:r>
              <a:rPr lang="en-IN" dirty="0"/>
              <a:t>Humans search based on </a:t>
            </a:r>
            <a:r>
              <a:rPr lang="en-IN" b="1" dirty="0"/>
              <a:t>meaning and intent</a:t>
            </a:r>
            <a:r>
              <a:rPr lang="en-IN" dirty="0"/>
              <a:t>, not exact words. Modern AI achieves this using </a:t>
            </a:r>
            <a:r>
              <a:rPr lang="en-IN" b="1" dirty="0"/>
              <a:t>Embeddings</a:t>
            </a:r>
            <a:r>
              <a:rPr lang="en-IN" dirty="0"/>
              <a:t> and </a:t>
            </a:r>
            <a:r>
              <a:rPr lang="en-IN" b="1" dirty="0"/>
              <a:t>Vector Search</a:t>
            </a:r>
            <a:r>
              <a:rPr lang="en-IN" dirty="0"/>
              <a:t>.</a:t>
            </a:r>
          </a:p>
          <a:p>
            <a:r>
              <a:rPr lang="en-IN" b="1" dirty="0"/>
              <a:t>Embeddings</a:t>
            </a:r>
            <a:r>
              <a:rPr lang="en-IN" dirty="0"/>
              <a:t> convert text into numerical vectors that capture its meaning and context.</a:t>
            </a:r>
          </a:p>
          <a:p>
            <a:r>
              <a:rPr lang="en-IN" b="1" dirty="0"/>
              <a:t>Vector Search</a:t>
            </a:r>
            <a:r>
              <a:rPr lang="en-IN" dirty="0"/>
              <a:t> compares these vectors to find semantically similar content, even when different words are used.</a:t>
            </a:r>
          </a:p>
          <a:p>
            <a:r>
              <a:rPr lang="en-IN" dirty="0"/>
              <a:t>This allows AI systems to understand that phrases like </a:t>
            </a:r>
            <a:r>
              <a:rPr lang="en-IN" b="1" dirty="0"/>
              <a:t>"Car Repair"</a:t>
            </a:r>
            <a:r>
              <a:rPr lang="en-IN" dirty="0"/>
              <a:t> and </a:t>
            </a:r>
            <a:r>
              <a:rPr lang="en-IN" b="1" dirty="0"/>
              <a:t>"Vehicle Maintenance"</a:t>
            </a:r>
            <a:r>
              <a:rPr lang="en-IN" dirty="0"/>
              <a:t> are related and should return similar results.</a:t>
            </a:r>
          </a:p>
          <a:p>
            <a:pPr marL="0" indent="0">
              <a:buNone/>
            </a:pPr>
            <a:r>
              <a:rPr lang="en-IN" b="1" dirty="0"/>
              <a:t>Key Takeaway</a:t>
            </a:r>
          </a:p>
          <a:p>
            <a:r>
              <a:rPr lang="en-IN" b="1" dirty="0"/>
              <a:t>Traditional Search = Matches Words</a:t>
            </a:r>
            <a:br>
              <a:rPr lang="en-IN" dirty="0"/>
            </a:br>
            <a:r>
              <a:rPr lang="en-IN" b="1" dirty="0"/>
              <a:t>Semantic Search = Matches Meaning</a:t>
            </a:r>
            <a:endParaRPr lang="en-IN" dirty="0"/>
          </a:p>
          <a:p>
            <a:r>
              <a:rPr lang="en-IN" dirty="0"/>
              <a:t>By using </a:t>
            </a:r>
            <a:r>
              <a:rPr lang="en-IN" b="1" dirty="0"/>
              <a:t>Embeddings + Vector Search</a:t>
            </a:r>
            <a:r>
              <a:rPr lang="en-IN" dirty="0"/>
              <a:t>, modern AI delivers more accurate, relevant, and human-like search experiences.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Embedding?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Dense numerical vector</a:t>
            </a:r>
            <a:r>
              <a:rPr lang="en-IN" dirty="0"/>
              <a:t> An embedding is a compact list of numbers that encodes meaning in a mathematical space.</a:t>
            </a:r>
          </a:p>
          <a:p>
            <a:r>
              <a:rPr lang="en-IN" b="1" dirty="0"/>
              <a:t>Represents semantic meaning</a:t>
            </a:r>
            <a:r>
              <a:rPr lang="en-IN" dirty="0"/>
              <a:t> Instead of raw text or pixels, embeddings capture relationships and context — e.g., "king" and "queen" are close in vector space.</a:t>
            </a:r>
          </a:p>
          <a:p>
            <a:r>
              <a:rPr lang="en-IN" b="1" dirty="0"/>
              <a:t>Applies to multiple data types</a:t>
            </a:r>
            <a:r>
              <a:rPr lang="en-IN" dirty="0"/>
              <a:t> Words, sentences, documents, images, and audio can all be transformed into embeddings for machine learning tasks.</a:t>
            </a:r>
          </a:p>
          <a:p>
            <a:r>
              <a:rPr lang="en-IN" b="1" dirty="0"/>
              <a:t>Enables similarity search</a:t>
            </a:r>
            <a:r>
              <a:rPr lang="en-IN" dirty="0"/>
              <a:t> By comparing distances between vectors, embeddings allow systems to find related items (e.g., similar documents or images).</a:t>
            </a:r>
          </a:p>
          <a:p>
            <a:r>
              <a:rPr lang="en-IN" b="1" dirty="0"/>
              <a:t>Foundation for modern AI</a:t>
            </a:r>
            <a:r>
              <a:rPr lang="en-IN" dirty="0"/>
              <a:t> Embeddings are the backbone of recommendation systems, semantic search, and large language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eginner's Guide to Vector Embeddings | Tiger Data">
            <a:extLst>
              <a:ext uri="{FF2B5EF4-FFF2-40B4-BE49-F238E27FC236}">
                <a16:creationId xmlns:a16="http://schemas.microsoft.com/office/drawing/2014/main" id="{33A12FDB-4DFF-698B-F903-604266329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7" y="485774"/>
            <a:ext cx="8741229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5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Embeddings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7171"/>
            <a:ext cx="8229600" cy="5181599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Nearby positions = similarity</a:t>
            </a:r>
            <a:r>
              <a:rPr lang="en-IN" dirty="0"/>
              <a:t> Concepts with related meaning occupy close positions in vector space.</a:t>
            </a:r>
          </a:p>
          <a:p>
            <a:r>
              <a:rPr lang="en-IN" b="1" dirty="0"/>
              <a:t>Clustering of related items</a:t>
            </a:r>
            <a:r>
              <a:rPr lang="en-IN" dirty="0"/>
              <a:t> Example: </a:t>
            </a:r>
            <a:r>
              <a:rPr lang="en-IN" i="1" dirty="0"/>
              <a:t>Dog, Cat, Tiger</a:t>
            </a:r>
            <a:r>
              <a:rPr lang="en-IN" dirty="0"/>
              <a:t> cluster together, while </a:t>
            </a:r>
            <a:r>
              <a:rPr lang="en-IN" i="1" dirty="0"/>
              <a:t>Car, Truck</a:t>
            </a:r>
            <a:r>
              <a:rPr lang="en-IN" dirty="0"/>
              <a:t> form a different cluster.</a:t>
            </a:r>
          </a:p>
          <a:p>
            <a:r>
              <a:rPr lang="en-IN" b="1" dirty="0"/>
              <a:t>Distance encodes meaning</a:t>
            </a:r>
            <a:r>
              <a:rPr lang="en-IN" dirty="0"/>
              <a:t> The numerical distance between vectors reflects semantic closeness — smaller distance = stronger similarity.</a:t>
            </a:r>
          </a:p>
          <a:p>
            <a:r>
              <a:rPr lang="en-IN" b="1" dirty="0"/>
              <a:t>Captures relationships</a:t>
            </a:r>
            <a:r>
              <a:rPr lang="en-IN" dirty="0"/>
              <a:t> Embeddings preserve analogies (e.g., </a:t>
            </a:r>
            <a:r>
              <a:rPr lang="en-IN" i="1" dirty="0"/>
              <a:t>King – Man + Woman ≈ Queen</a:t>
            </a:r>
            <a:r>
              <a:rPr lang="en-IN" dirty="0"/>
              <a:t>) by geometric transformations.</a:t>
            </a:r>
          </a:p>
          <a:p>
            <a:r>
              <a:rPr lang="en-IN" b="1" dirty="0"/>
              <a:t>Supports generalization</a:t>
            </a:r>
            <a:r>
              <a:rPr lang="en-IN" dirty="0"/>
              <a:t> By mapping diverse data into a shared space, embeddings allow models to generalize across unseen examples.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Text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One-Hot Encoding</a:t>
            </a:r>
            <a:r>
              <a:rPr lang="en-IN" dirty="0"/>
              <a:t> Each word represented as a sparse binary vector. No semantic meaning, only unique IDs.</a:t>
            </a:r>
          </a:p>
          <a:p>
            <a:r>
              <a:rPr lang="en-IN" b="1" dirty="0"/>
              <a:t>Word2Vec</a:t>
            </a:r>
            <a:r>
              <a:rPr lang="en-IN" dirty="0"/>
              <a:t> Learns word embeddings using context (Skip-gram / CBOW). Captures semantic similarity.</a:t>
            </a:r>
          </a:p>
          <a:p>
            <a:r>
              <a:rPr lang="en-IN" b="1" dirty="0" err="1"/>
              <a:t>GloVe</a:t>
            </a:r>
            <a:r>
              <a:rPr lang="en-IN" dirty="0"/>
              <a:t> Global Vectors trained on co-occurrence statistics. Preserves global corpus-level meaning.</a:t>
            </a:r>
          </a:p>
          <a:p>
            <a:r>
              <a:rPr lang="en-IN" b="1" dirty="0" err="1"/>
              <a:t>FastText</a:t>
            </a:r>
            <a:r>
              <a:rPr lang="en-IN" dirty="0"/>
              <a:t> Extends Word2Vec by using </a:t>
            </a:r>
            <a:r>
              <a:rPr lang="en-IN" dirty="0" err="1"/>
              <a:t>subword</a:t>
            </a:r>
            <a:r>
              <a:rPr lang="en-IN" dirty="0"/>
              <a:t> information. Handles rare and misspelled words better.</a:t>
            </a:r>
          </a:p>
          <a:p>
            <a:r>
              <a:rPr lang="en-IN" b="1" dirty="0" err="1"/>
              <a:t>ELMo</a:t>
            </a:r>
            <a:r>
              <a:rPr lang="en-IN" dirty="0"/>
              <a:t> Contextual embeddings from deep bidirectional LSTMs. Word meaning changes with context.</a:t>
            </a:r>
          </a:p>
          <a:p>
            <a:r>
              <a:rPr lang="en-IN" b="1" dirty="0"/>
              <a:t>BERT</a:t>
            </a:r>
            <a:r>
              <a:rPr lang="en-IN" dirty="0"/>
              <a:t> Transformer-based, bidirectional embeddings. Revolutionized NLP with deep contextual understanding.</a:t>
            </a:r>
          </a:p>
          <a:p>
            <a:r>
              <a:rPr lang="en-IN" b="1" dirty="0"/>
              <a:t>Modern Transformer Embeddings</a:t>
            </a:r>
            <a:r>
              <a:rPr lang="en-IN" dirty="0"/>
              <a:t> Models like GPT, </a:t>
            </a:r>
            <a:r>
              <a:rPr lang="en-IN" dirty="0" err="1"/>
              <a:t>LLaMA</a:t>
            </a:r>
            <a:r>
              <a:rPr lang="en-IN" dirty="0"/>
              <a:t>, Claude generate rich embeddings for sentences, documents, and tasks.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588829" cy="4876800"/>
          </a:xfrm>
        </p:spPr>
        <p:txBody>
          <a:bodyPr>
            <a:noAutofit/>
          </a:bodyPr>
          <a:lstStyle/>
          <a:p>
            <a:r>
              <a:rPr lang="en-IN" sz="2300" b="1" dirty="0"/>
              <a:t>Generated via self-attention</a:t>
            </a:r>
            <a:r>
              <a:rPr lang="en-IN" sz="2300" dirty="0"/>
              <a:t> Each token attends to all others, creating context-aware representations.</a:t>
            </a:r>
          </a:p>
          <a:p>
            <a:r>
              <a:rPr lang="en-IN" sz="2300" b="1" dirty="0"/>
              <a:t>Context changes meaning</a:t>
            </a:r>
            <a:r>
              <a:rPr lang="en-IN" sz="2300" dirty="0"/>
              <a:t> Unlike static embeddings, the same word can have different vectors depending on surrounding words.</a:t>
            </a:r>
          </a:p>
          <a:p>
            <a:r>
              <a:rPr lang="en-IN" sz="2300" b="1" dirty="0"/>
              <a:t>Example: “bank”</a:t>
            </a:r>
            <a:endParaRPr lang="en-IN" sz="2300" dirty="0"/>
          </a:p>
          <a:p>
            <a:pPr marL="0" indent="0">
              <a:buNone/>
            </a:pPr>
            <a:r>
              <a:rPr lang="en-IN" sz="2300" i="1" dirty="0"/>
              <a:t>	Finance</a:t>
            </a:r>
            <a:r>
              <a:rPr lang="en-IN" sz="2300" dirty="0"/>
              <a:t>: “bank loan” → embedding reflects financial context.</a:t>
            </a:r>
          </a:p>
          <a:p>
            <a:pPr marL="0" indent="0">
              <a:buNone/>
            </a:pPr>
            <a:r>
              <a:rPr lang="en-IN" sz="2300" i="1" dirty="0"/>
              <a:t>	Geography</a:t>
            </a:r>
            <a:r>
              <a:rPr lang="en-IN" sz="2300" dirty="0"/>
              <a:t>: “river bank” → embedding reflects natural landscape.</a:t>
            </a:r>
          </a:p>
          <a:p>
            <a:r>
              <a:rPr lang="en-IN" sz="2300" b="1" dirty="0"/>
              <a:t>Dynamic and powerful</a:t>
            </a:r>
            <a:r>
              <a:rPr lang="en-IN" sz="2300" dirty="0"/>
              <a:t> Enables nuanced understanding for tasks like translation, summarization, and reasoning.</a:t>
            </a:r>
          </a:p>
          <a:p>
            <a:r>
              <a:rPr lang="en-IN" sz="2300" b="1" dirty="0"/>
              <a:t>Foundation for LLMs</a:t>
            </a:r>
            <a:r>
              <a:rPr lang="en-IN" sz="2300" dirty="0"/>
              <a:t> Models like GPT, BERT, and </a:t>
            </a:r>
            <a:r>
              <a:rPr lang="en-IN" sz="2300" dirty="0" err="1"/>
              <a:t>LLaMA</a:t>
            </a:r>
            <a:r>
              <a:rPr lang="en-IN" sz="2300" dirty="0"/>
              <a:t> rely on these embeddings to capture meaning across sentences and documents.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Embedding Generation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Text</a:t>
            </a:r>
            <a:r>
              <a:rPr lang="en-IN" dirty="0"/>
              <a:t> Raw input (sentence, document, etc.)</a:t>
            </a:r>
          </a:p>
          <a:p>
            <a:r>
              <a:rPr lang="en-IN" b="1" dirty="0"/>
              <a:t>Tokenization</a:t>
            </a:r>
            <a:r>
              <a:rPr lang="en-IN" dirty="0"/>
              <a:t> Breaks text into smaller units (tokens)</a:t>
            </a:r>
          </a:p>
          <a:p>
            <a:r>
              <a:rPr lang="en-IN" b="1" dirty="0"/>
              <a:t>Embedding Layer</a:t>
            </a:r>
            <a:r>
              <a:rPr lang="en-IN" dirty="0"/>
              <a:t> Converts tokens into initial dense vectors</a:t>
            </a:r>
          </a:p>
          <a:p>
            <a:r>
              <a:rPr lang="en-IN" b="1" dirty="0"/>
              <a:t>Transformer Blocks</a:t>
            </a:r>
            <a:r>
              <a:rPr lang="en-IN" dirty="0"/>
              <a:t> Self-attention + feed-forward layers refine context-aware representations</a:t>
            </a:r>
          </a:p>
          <a:p>
            <a:r>
              <a:rPr lang="en-IN" b="1" dirty="0"/>
              <a:t>Pooling</a:t>
            </a:r>
            <a:r>
              <a:rPr lang="en-IN" dirty="0"/>
              <a:t> Aggregates token embeddings into a single representation</a:t>
            </a:r>
          </a:p>
          <a:p>
            <a:r>
              <a:rPr lang="en-IN" b="1" dirty="0"/>
              <a:t>Dense Vector</a:t>
            </a:r>
            <a:r>
              <a:rPr lang="en-IN" dirty="0"/>
              <a:t> Final embedding used for similarity search, clustering, or downstream tasks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Embedding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Word2Vec: 300</a:t>
            </a:r>
            <a:r>
              <a:rPr lang="en-IN" dirty="0"/>
              <a:t> Compact vectors, sufficient for basic semantic similarity.</a:t>
            </a:r>
          </a:p>
          <a:p>
            <a:r>
              <a:rPr lang="en-IN" b="1" dirty="0"/>
              <a:t>BERT: 768</a:t>
            </a:r>
            <a:r>
              <a:rPr lang="en-IN" dirty="0"/>
              <a:t> Larger dimensionality captures richer contextual meaning.</a:t>
            </a:r>
          </a:p>
          <a:p>
            <a:r>
              <a:rPr lang="en-IN" b="1" dirty="0"/>
              <a:t>OpenAI Models: 1536–3072</a:t>
            </a:r>
            <a:r>
              <a:rPr lang="en-IN" dirty="0"/>
              <a:t> High-dimensional embeddings encode nuanced relationships across long contexts.</a:t>
            </a:r>
          </a:p>
          <a:p>
            <a:r>
              <a:rPr lang="en-IN" b="1" dirty="0"/>
              <a:t>Higher dimensions = richer info</a:t>
            </a:r>
            <a:r>
              <a:rPr lang="en-IN" dirty="0"/>
              <a:t> More capacity to represent meaning, but require more memory and storage.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Semantic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Learned relationships</a:t>
            </a:r>
            <a:r>
              <a:rPr lang="en-IN" dirty="0"/>
              <a:t> Embeddings capture semantic patterns without explicit programming.</a:t>
            </a:r>
          </a:p>
          <a:p>
            <a:r>
              <a:rPr lang="en-IN" b="1" dirty="0"/>
              <a:t>Vector arithmetic</a:t>
            </a:r>
            <a:r>
              <a:rPr lang="en-IN" dirty="0"/>
              <a:t> Operations on embeddings reveal analogies and hidden structure.</a:t>
            </a:r>
          </a:p>
          <a:p>
            <a:r>
              <a:rPr lang="en-IN" b="1" dirty="0"/>
              <a:t>Classic example</a:t>
            </a:r>
            <a:r>
              <a:rPr lang="en-IN" dirty="0"/>
              <a:t> </a:t>
            </a:r>
            <a:r>
              <a:rPr lang="en-IN" i="1" dirty="0"/>
              <a:t>King − Man + Woman ≈ Queen</a:t>
            </a:r>
            <a:r>
              <a:rPr lang="en-IN" dirty="0"/>
              <a:t> demonstrates how embeddings encode gender and role.</a:t>
            </a:r>
          </a:p>
          <a:p>
            <a:r>
              <a:rPr lang="en-IN" b="1" dirty="0"/>
              <a:t>Latent semantic features</a:t>
            </a:r>
            <a:r>
              <a:rPr lang="en-IN" dirty="0"/>
              <a:t> Dimensions represent abstract properties like tense, plurality, or domain.</a:t>
            </a:r>
          </a:p>
          <a:p>
            <a:r>
              <a:rPr lang="en-IN" b="1" dirty="0"/>
              <a:t>Supports reasoning</a:t>
            </a:r>
            <a:r>
              <a:rPr lang="en-IN" dirty="0"/>
              <a:t> Enables analogy solving, semantic search, and contextual understanding.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Similarity Metrics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Cosine Similarity</a:t>
            </a:r>
            <a:r>
              <a:rPr lang="en-IN" dirty="0"/>
              <a:t> Measures the cosine of the angle between two vectors. → Best for comparing orientation, not magnitude.</a:t>
            </a:r>
          </a:p>
          <a:p>
            <a:r>
              <a:rPr lang="en-IN" b="1" dirty="0"/>
              <a:t>Dot Product</a:t>
            </a:r>
            <a:r>
              <a:rPr lang="en-IN" dirty="0"/>
              <a:t> Simple multiplication of corresponding vector elements. → Sensitive to both direction and magnitude.</a:t>
            </a:r>
          </a:p>
          <a:p>
            <a:r>
              <a:rPr lang="en-IN" b="1" dirty="0"/>
              <a:t>Euclidean Distance</a:t>
            </a:r>
            <a:r>
              <a:rPr lang="en-IN" dirty="0"/>
              <a:t> Straight-line distance between two points in vector space. → Captures absolute difference in position.</a:t>
            </a:r>
          </a:p>
          <a:p>
            <a:r>
              <a:rPr lang="en-IN" b="1" dirty="0"/>
              <a:t>Manhattan Distance</a:t>
            </a:r>
            <a:r>
              <a:rPr lang="en-IN" dirty="0"/>
              <a:t> Sum of absolute differences across dimensions. → Think of it as “grid-like” distance.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OpenAI text-embedding</a:t>
            </a:r>
            <a:r>
              <a:rPr lang="en-IN" dirty="0"/>
              <a:t> High-dimensional (1536–3072) embeddings optimized for semantic search, clustering, and retrieval-augmented generation (RAG).</a:t>
            </a:r>
          </a:p>
          <a:p>
            <a:r>
              <a:rPr lang="en-IN" b="1" dirty="0"/>
              <a:t>BGE (BAAI General Embeddings)</a:t>
            </a:r>
            <a:r>
              <a:rPr lang="en-IN" dirty="0"/>
              <a:t> Strong performance on multilingual tasks and retrieval benchmarks.</a:t>
            </a:r>
          </a:p>
          <a:p>
            <a:r>
              <a:rPr lang="en-IN" b="1" dirty="0"/>
              <a:t>E5</a:t>
            </a:r>
            <a:r>
              <a:rPr lang="en-IN" dirty="0"/>
              <a:t> Designed for sentence-level embeddings, excels in semantic similarity and information retrieval.</a:t>
            </a:r>
          </a:p>
          <a:p>
            <a:r>
              <a:rPr lang="en-IN" b="1" dirty="0"/>
              <a:t>Instructor</a:t>
            </a:r>
            <a:r>
              <a:rPr lang="en-IN" dirty="0"/>
              <a:t> Instruction-tuned embeddings that adapt to task-specific prompts for better alignment.</a:t>
            </a:r>
          </a:p>
          <a:p>
            <a:r>
              <a:rPr lang="en-IN" b="1" dirty="0"/>
              <a:t>Cohere</a:t>
            </a:r>
            <a:r>
              <a:rPr lang="en-IN" dirty="0"/>
              <a:t> Commercial embeddings with strong performance in production-scale semantic search and classification.</a:t>
            </a:r>
          </a:p>
          <a:p>
            <a:r>
              <a:rPr lang="en-IN" b="1" dirty="0"/>
              <a:t>Sentence Transformers</a:t>
            </a:r>
            <a:r>
              <a:rPr lang="en-IN" dirty="0"/>
              <a:t> Flexible, open-source library built on Hugging Face; widely used for sentence similarity, clustering, and semantic search.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Vector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Mathematical representation</a:t>
            </a:r>
            <a:r>
              <a:rPr lang="en-IN" dirty="0"/>
              <a:t> A structured space defined by dimensions and coordinates.</a:t>
            </a:r>
          </a:p>
          <a:p>
            <a:r>
              <a:rPr lang="en-IN" b="1" dirty="0"/>
              <a:t>Each dimension = latent feature</a:t>
            </a:r>
            <a:r>
              <a:rPr lang="en-IN" dirty="0"/>
              <a:t> Dimensions capture hidden semantic properties (e.g., gender, tense, topic).</a:t>
            </a:r>
          </a:p>
          <a:p>
            <a:r>
              <a:rPr lang="en-IN" b="1" dirty="0"/>
              <a:t>Semantic meaning encoded</a:t>
            </a:r>
            <a:r>
              <a:rPr lang="en-IN" dirty="0"/>
              <a:t> Words, sentences, or images are mapped into points where proximity reflects similarity.</a:t>
            </a:r>
          </a:p>
          <a:p>
            <a:r>
              <a:rPr lang="en-IN" b="1" dirty="0"/>
              <a:t>Supports operations</a:t>
            </a:r>
            <a:r>
              <a:rPr lang="en-IN" dirty="0"/>
              <a:t> Enables addition, subtraction, and distance calculations (e.g., </a:t>
            </a:r>
            <a:r>
              <a:rPr lang="en-IN" i="1" dirty="0"/>
              <a:t>King – Man + Woman ≈ Queen</a:t>
            </a:r>
            <a:r>
              <a:rPr lang="en-IN" dirty="0"/>
              <a:t>).</a:t>
            </a:r>
          </a:p>
          <a:p>
            <a:r>
              <a:rPr lang="en-IN" b="1" dirty="0"/>
              <a:t>Foundation for embeddings</a:t>
            </a:r>
            <a:r>
              <a:rPr lang="en-IN" dirty="0"/>
              <a:t> Provides the geometric framework that makes similarity search and clustering possible.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Embeddings</a:t>
            </a:r>
            <a:r>
              <a:rPr lang="en-IN" dirty="0"/>
              <a:t> Search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2371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Sentence Embeddings</a:t>
            </a:r>
            <a:r>
              <a:rPr lang="en-IN" dirty="0"/>
              <a:t> Represent individual sentences; capture meaning beyond word-level.</a:t>
            </a:r>
          </a:p>
          <a:p>
            <a:r>
              <a:rPr lang="en-IN" b="1" dirty="0"/>
              <a:t>Document Embeddings</a:t>
            </a:r>
            <a:r>
              <a:rPr lang="en-IN" dirty="0"/>
              <a:t> Encode entire documents into vectors for large-scale retrieval.</a:t>
            </a:r>
          </a:p>
          <a:p>
            <a:r>
              <a:rPr lang="en-IN" b="1" dirty="0"/>
              <a:t>Semantic Search</a:t>
            </a:r>
            <a:r>
              <a:rPr lang="en-IN" dirty="0"/>
              <a:t> Finds results based on meaning, not exact keywords.</a:t>
            </a:r>
          </a:p>
          <a:p>
            <a:r>
              <a:rPr lang="en-IN" b="1" dirty="0"/>
              <a:t>Hybrid Search</a:t>
            </a:r>
            <a:r>
              <a:rPr lang="en-IN" dirty="0"/>
              <a:t> Combines dense embeddings with sparse keyword-based methods (BM25).</a:t>
            </a:r>
          </a:p>
          <a:p>
            <a:pPr marL="0" indent="0">
              <a:buNone/>
            </a:pPr>
            <a:r>
              <a:rPr lang="en-IN" b="1" dirty="0"/>
              <a:t>Semantic Search Workflow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Query → Embedding → Vector Database → Similarity Matching → Ranked Results.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Retrieval methods</a:t>
            </a:r>
            <a:endParaRPr lang="en-IN" dirty="0">
              <a:effectLst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B666F-C036-9AB3-CF1D-7D3796DE0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39170"/>
            <a:ext cx="4040188" cy="48963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Exact Match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30629" y="1968047"/>
            <a:ext cx="4040188" cy="432389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Uses </a:t>
            </a:r>
            <a:r>
              <a:rPr lang="en-IN" b="1" dirty="0"/>
              <a:t>Boolean logic (AND, OR, NOT)</a:t>
            </a:r>
            <a:r>
              <a:rPr lang="en-IN" dirty="0"/>
              <a:t>.</a:t>
            </a:r>
          </a:p>
          <a:p>
            <a:r>
              <a:rPr lang="en-IN" dirty="0"/>
              <a:t>Documents are retrieved only if they exactly satisfy the query.</a:t>
            </a:r>
          </a:p>
          <a:p>
            <a:r>
              <a:rPr lang="en-IN" b="1" dirty="0"/>
              <a:t>Strengths</a:t>
            </a:r>
            <a:r>
              <a:rPr lang="en-IN" dirty="0"/>
              <a:t>: Precise, predictable.</a:t>
            </a:r>
          </a:p>
          <a:p>
            <a:r>
              <a:rPr lang="en-IN" b="1" dirty="0"/>
              <a:t>Weaknesses</a:t>
            </a:r>
            <a:r>
              <a:rPr lang="en-IN" dirty="0"/>
              <a:t>: No ranking, misses semantically related results.</a:t>
            </a:r>
          </a:p>
          <a:p>
            <a:r>
              <a:rPr lang="en-IN" dirty="0"/>
              <a:t>Example: Searching "dogs AND training" returns only documents containing both terms.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EB81B-B429-EC9E-8561-F72F1E86F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43293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Best Match Retrieval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EC800B-4787-009F-ACFB-F0C2949D2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368346" cy="4323895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Based on the </a:t>
            </a:r>
            <a:r>
              <a:rPr lang="en-IN" b="1" dirty="0"/>
              <a:t>Vector Space Model</a:t>
            </a:r>
            <a:r>
              <a:rPr lang="en-IN" dirty="0"/>
              <a:t>.</a:t>
            </a:r>
          </a:p>
          <a:p>
            <a:r>
              <a:rPr lang="en-IN" dirty="0"/>
              <a:t>Documents and queries are represented as vectors; similarity measured by </a:t>
            </a:r>
            <a:r>
              <a:rPr lang="en-IN" b="1" dirty="0"/>
              <a:t>cosine similarity</a:t>
            </a:r>
            <a:r>
              <a:rPr lang="en-IN" dirty="0"/>
              <a:t> or other metrics.</a:t>
            </a:r>
          </a:p>
          <a:p>
            <a:r>
              <a:rPr lang="en-IN" b="1" dirty="0"/>
              <a:t>Strengths</a:t>
            </a:r>
            <a:r>
              <a:rPr lang="en-IN" dirty="0"/>
              <a:t>: Captures related concepts (e.g., “car” ≈ “automobile”).</a:t>
            </a:r>
          </a:p>
          <a:p>
            <a:r>
              <a:rPr lang="en-IN" b="1" dirty="0"/>
              <a:t>Weaknesses</a:t>
            </a:r>
            <a:r>
              <a:rPr lang="en-IN" dirty="0"/>
              <a:t>: Requires weighting schemes (TF-IDF).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E9368-B450-06B6-A3CD-A7B725E67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4671" y="235518"/>
            <a:ext cx="4040188" cy="639762"/>
          </a:xfrm>
        </p:spPr>
        <p:txBody>
          <a:bodyPr/>
          <a:lstStyle/>
          <a:p>
            <a:r>
              <a:rPr lang="en-IN" dirty="0"/>
              <a:t>Probabilistic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72143" y="1051718"/>
            <a:ext cx="4225245" cy="5074445"/>
          </a:xfrm>
        </p:spPr>
        <p:txBody>
          <a:bodyPr>
            <a:normAutofit/>
          </a:bodyPr>
          <a:lstStyle/>
          <a:p>
            <a:r>
              <a:rPr lang="en-IN" dirty="0"/>
              <a:t>Estimates the </a:t>
            </a:r>
            <a:r>
              <a:rPr lang="en-IN" b="1" dirty="0"/>
              <a:t>probability that a document is relevant</a:t>
            </a:r>
            <a:r>
              <a:rPr lang="en-IN" dirty="0"/>
              <a:t> to a query.</a:t>
            </a:r>
          </a:p>
          <a:p>
            <a:r>
              <a:rPr lang="en-IN" dirty="0"/>
              <a:t>Results are ranked by likelihood of relevance.</a:t>
            </a:r>
          </a:p>
          <a:p>
            <a:r>
              <a:rPr lang="en-IN" b="1" dirty="0"/>
              <a:t>Strengths</a:t>
            </a:r>
            <a:r>
              <a:rPr lang="en-IN" dirty="0"/>
              <a:t>: More accurate ranking, widely used in modern search engines.</a:t>
            </a:r>
          </a:p>
          <a:p>
            <a:r>
              <a:rPr lang="en-IN" b="1" dirty="0"/>
              <a:t>Weaknesses</a:t>
            </a:r>
            <a:r>
              <a:rPr lang="en-IN" dirty="0"/>
              <a:t>: Requires training data or assumptions about relevance.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E72CC-72F1-0C2F-F2A4-61DBCABCC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31671" y="235518"/>
            <a:ext cx="4041775" cy="639762"/>
          </a:xfrm>
        </p:spPr>
        <p:txBody>
          <a:bodyPr/>
          <a:lstStyle/>
          <a:p>
            <a:r>
              <a:rPr lang="en-IN" dirty="0"/>
              <a:t>Partial Match Retrieval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3A928-C8AF-5AE0-C766-C79A2267F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1195161"/>
            <a:ext cx="4041775" cy="4931002"/>
          </a:xfrm>
        </p:spPr>
        <p:txBody>
          <a:bodyPr>
            <a:normAutofit/>
          </a:bodyPr>
          <a:lstStyle/>
          <a:p>
            <a:r>
              <a:rPr lang="en-IN" dirty="0"/>
              <a:t>Allows retrieval even if query terms don’t exactly match.</a:t>
            </a:r>
          </a:p>
          <a:p>
            <a:r>
              <a:rPr lang="en-IN" dirty="0"/>
              <a:t>Techniques include </a:t>
            </a:r>
            <a:r>
              <a:rPr lang="en-IN" b="1" dirty="0"/>
              <a:t>query expansion, fuzzy matching, clustering, spreading activation</a:t>
            </a:r>
            <a:r>
              <a:rPr lang="en-IN" dirty="0"/>
              <a:t>.</a:t>
            </a:r>
          </a:p>
          <a:p>
            <a:r>
              <a:rPr lang="en-IN" b="1" dirty="0"/>
              <a:t>Strengths</a:t>
            </a:r>
            <a:r>
              <a:rPr lang="en-IN" dirty="0"/>
              <a:t>: Handles synonyms, misspellings, and related concepts.</a:t>
            </a:r>
          </a:p>
          <a:p>
            <a:r>
              <a:rPr lang="en-IN" b="1" dirty="0"/>
              <a:t>Weaknesses</a:t>
            </a:r>
            <a:r>
              <a:rPr lang="en-IN" dirty="0"/>
              <a:t>: May introduce noise or irrelevant results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10D16-2AC2-8CE9-8FA4-B3C3A2D67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5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🔍 Dense vs Sparse Retrieval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192C6-D508-F73D-4987-9109AAF99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458" y="813821"/>
            <a:ext cx="4040188" cy="639762"/>
          </a:xfrm>
        </p:spPr>
        <p:txBody>
          <a:bodyPr/>
          <a:lstStyle/>
          <a:p>
            <a:r>
              <a:rPr lang="en-IN" dirty="0"/>
              <a:t>Dense Retrieval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8C31C-A0B5-FD64-365B-15FD8BCBE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0371" y="1535566"/>
            <a:ext cx="4247017" cy="5017633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Representation</a:t>
            </a:r>
            <a:r>
              <a:rPr lang="en-IN" dirty="0"/>
              <a:t>: Encodes queries/documents into dense vectors (768–1536 dimensions).</a:t>
            </a:r>
          </a:p>
          <a:p>
            <a:r>
              <a:rPr lang="en-IN" b="1" dirty="0"/>
              <a:t>Matching</a:t>
            </a:r>
            <a:r>
              <a:rPr lang="en-IN" dirty="0"/>
              <a:t>: Uses similarity metrics (cosine, dot product) to find semantically related results.</a:t>
            </a:r>
          </a:p>
          <a:p>
            <a:r>
              <a:rPr lang="en-IN" b="1" dirty="0"/>
              <a:t>Performance</a:t>
            </a:r>
            <a:r>
              <a:rPr lang="en-IN" dirty="0"/>
              <a:t>: Higher relevance (≈0.72 nDCG@10, 0.65 Recall@10).</a:t>
            </a:r>
          </a:p>
          <a:p>
            <a:r>
              <a:rPr lang="en-IN" b="1" dirty="0"/>
              <a:t>Requirements</a:t>
            </a:r>
            <a:r>
              <a:rPr lang="en-IN" dirty="0"/>
              <a:t>: GPU acceleration, ~60GB memory for 10M docs.</a:t>
            </a:r>
          </a:p>
          <a:p>
            <a:r>
              <a:rPr lang="en-IN" b="1" dirty="0"/>
              <a:t>Strengths</a:t>
            </a:r>
            <a:r>
              <a:rPr lang="en-IN" dirty="0"/>
              <a:t>: Captures meaning, supports multilingual queries, integrates well with RAG.</a:t>
            </a:r>
          </a:p>
          <a:p>
            <a:r>
              <a:rPr lang="en-IN" b="1" dirty="0"/>
              <a:t>Weaknesses</a:t>
            </a:r>
            <a:r>
              <a:rPr lang="en-IN" dirty="0"/>
              <a:t>: Costly, slower (10–100 </a:t>
            </a:r>
            <a:r>
              <a:rPr lang="en-IN" dirty="0" err="1"/>
              <a:t>ms</a:t>
            </a:r>
            <a:r>
              <a:rPr lang="en-IN" dirty="0"/>
              <a:t> latency).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BAB31B-407D-545F-DCD2-B8EFA471A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66356" y="813821"/>
            <a:ext cx="4041775" cy="639762"/>
          </a:xfrm>
        </p:spPr>
        <p:txBody>
          <a:bodyPr/>
          <a:lstStyle/>
          <a:p>
            <a:r>
              <a:rPr lang="en-IN" dirty="0"/>
              <a:t>Sparse Retrieval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BB034-46A8-384C-D45D-3EAF953AA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1535567"/>
            <a:ext cx="4041775" cy="5017632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Representation</a:t>
            </a:r>
            <a:r>
              <a:rPr lang="en-IN" dirty="0"/>
              <a:t>: High-dimensional sparse vectors (10,000–100,000 dimensions) based on vocabulary terms.</a:t>
            </a:r>
          </a:p>
          <a:p>
            <a:r>
              <a:rPr lang="en-IN" b="1" dirty="0"/>
              <a:t>Matching</a:t>
            </a:r>
            <a:r>
              <a:rPr lang="en-IN" dirty="0"/>
              <a:t>: Keyword overlap, TF‑IDF, BM25.</a:t>
            </a:r>
          </a:p>
          <a:p>
            <a:r>
              <a:rPr lang="en-IN" b="1" dirty="0"/>
              <a:t>Performance</a:t>
            </a:r>
            <a:r>
              <a:rPr lang="en-IN" dirty="0"/>
              <a:t>: Lower relevance (≈0.58 nDCG@10, 0.52 Recall@10).</a:t>
            </a:r>
          </a:p>
          <a:p>
            <a:r>
              <a:rPr lang="en-IN" b="1" dirty="0"/>
              <a:t>Requirements</a:t>
            </a:r>
            <a:r>
              <a:rPr lang="en-IN" dirty="0"/>
              <a:t>: CPU-based, ~0.1GB memory for 100K docs.</a:t>
            </a:r>
          </a:p>
          <a:p>
            <a:r>
              <a:rPr lang="en-IN" b="1" dirty="0"/>
              <a:t>Strengths</a:t>
            </a:r>
            <a:r>
              <a:rPr lang="en-IN" dirty="0"/>
              <a:t>: Fast (sub‑millisecond latency), interpretable, cost‑efficient.</a:t>
            </a:r>
          </a:p>
          <a:p>
            <a:r>
              <a:rPr lang="en-IN" b="1" dirty="0"/>
              <a:t>Weaknesses</a:t>
            </a:r>
            <a:r>
              <a:rPr lang="en-IN" dirty="0"/>
              <a:t>: Misses semantic meaning, limited recall if keywords don’t match.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44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Popular Vector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78829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FAISS</a:t>
            </a:r>
            <a:r>
              <a:rPr lang="en-IN" dirty="0"/>
              <a:t> Open-source by Meta. Optimized for fast similarity search and clustering on large datasets.</a:t>
            </a:r>
          </a:p>
          <a:p>
            <a:r>
              <a:rPr lang="en-IN" b="1" dirty="0"/>
              <a:t>Pinecone</a:t>
            </a:r>
            <a:r>
              <a:rPr lang="en-IN" dirty="0"/>
              <a:t> Cloud-native, scalable vector database with metadata filtering and production-ready APIs.</a:t>
            </a:r>
          </a:p>
          <a:p>
            <a:r>
              <a:rPr lang="en-IN" b="1" dirty="0" err="1"/>
              <a:t>Weaviate</a:t>
            </a:r>
            <a:r>
              <a:rPr lang="en-IN" dirty="0"/>
              <a:t> Open-source, schema-based vector DB with hybrid search (dense + sparse) and knowledge graph integration.</a:t>
            </a:r>
          </a:p>
          <a:p>
            <a:r>
              <a:rPr lang="en-IN" b="1" dirty="0"/>
              <a:t>Milvus</a:t>
            </a:r>
            <a:r>
              <a:rPr lang="en-IN" dirty="0"/>
              <a:t> High-performance, distributed vector database designed for billion-scale embeddings.</a:t>
            </a:r>
          </a:p>
          <a:p>
            <a:r>
              <a:rPr lang="en-IN" b="1" dirty="0" err="1"/>
              <a:t>ChromaDB</a:t>
            </a:r>
            <a:r>
              <a:rPr lang="en-IN" dirty="0"/>
              <a:t> Lightweight, developer-friendly vector DB often used in RAG pipelines and prototyping.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Normal Databases Struggle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Sequential comparison</a:t>
            </a:r>
            <a:r>
              <a:rPr lang="en-IN" dirty="0"/>
              <a:t> Traditional databases compare records row by row — inefficient for millions of vectors.</a:t>
            </a:r>
          </a:p>
          <a:p>
            <a:r>
              <a:rPr lang="en-IN" b="1" dirty="0"/>
              <a:t>High dimensionality</a:t>
            </a:r>
            <a:r>
              <a:rPr lang="en-IN" dirty="0"/>
              <a:t> Embeddings often have 768–3000+ dimensions, making brute-force search computationally expensive.</a:t>
            </a:r>
          </a:p>
          <a:p>
            <a:r>
              <a:rPr lang="en-IN" b="1" dirty="0"/>
              <a:t>No native vector support</a:t>
            </a:r>
            <a:r>
              <a:rPr lang="en-IN" dirty="0"/>
              <a:t> Relational databases are designed for structured tables, not dense numerical vectors.</a:t>
            </a:r>
          </a:p>
          <a:p>
            <a:r>
              <a:rPr lang="en-IN" b="1" dirty="0"/>
              <a:t>Latency issues</a:t>
            </a:r>
            <a:r>
              <a:rPr lang="en-IN" dirty="0"/>
              <a:t> Querying large embedding sets leads to slow response times without specialized indexing.</a:t>
            </a:r>
          </a:p>
          <a:p>
            <a:r>
              <a:rPr lang="en-IN" b="1" dirty="0"/>
              <a:t>Storage overhead</a:t>
            </a:r>
            <a:r>
              <a:rPr lang="en-IN" dirty="0"/>
              <a:t> Higher dimensions require more memory, which normal databases aren’t optimized to handle.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Chunking in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Fixed-size chunks</a:t>
            </a:r>
            <a:r>
              <a:rPr lang="en-IN" dirty="0"/>
              <a:t> Split text into equal-length segments (e.g., 500 tokens). → Simple, but may break semantic meaning mid-sentence.</a:t>
            </a:r>
          </a:p>
          <a:p>
            <a:r>
              <a:rPr lang="en-IN" b="1" dirty="0"/>
              <a:t>Recursive chunks</a:t>
            </a:r>
            <a:r>
              <a:rPr lang="en-IN" dirty="0"/>
              <a:t> Break text hierarchically (document → section → paragraph → sentence). → Preserves structure and context.</a:t>
            </a:r>
          </a:p>
          <a:p>
            <a:r>
              <a:rPr lang="en-IN" b="1" dirty="0"/>
              <a:t>Semantic chunks</a:t>
            </a:r>
            <a:r>
              <a:rPr lang="en-IN" dirty="0"/>
              <a:t> Split based on meaning (e.g., sentence boundaries, topic shifts). → Produces higher-quality embeddings aligned with natural language.</a:t>
            </a:r>
          </a:p>
          <a:p>
            <a:r>
              <a:rPr lang="en-IN" b="1" dirty="0"/>
              <a:t>Sliding windows</a:t>
            </a:r>
            <a:r>
              <a:rPr lang="en-IN" dirty="0"/>
              <a:t> Overlapping chunks ensure context continuity across boundaries. → Useful for long documents where context spans multiple segments.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Retrieval-Augmented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Combines retrieval + generation</a:t>
            </a:r>
            <a:r>
              <a:rPr lang="en-IN" dirty="0"/>
              <a:t> Vector database retrieves relevant context → LLM generates answer.</a:t>
            </a:r>
          </a:p>
          <a:p>
            <a:r>
              <a:rPr lang="en-IN" b="1" dirty="0"/>
              <a:t>Improves factual accuracy</a:t>
            </a:r>
            <a:r>
              <a:rPr lang="en-IN" dirty="0"/>
              <a:t> Reduces reliance on memorized knowledge by grounding responses in external data.</a:t>
            </a:r>
          </a:p>
          <a:p>
            <a:r>
              <a:rPr lang="en-IN" b="1" dirty="0"/>
              <a:t>Reduces hallucinations</a:t>
            </a:r>
            <a:r>
              <a:rPr lang="en-IN" dirty="0"/>
              <a:t> Ensures outputs are supported by retrieved evidence.</a:t>
            </a:r>
          </a:p>
          <a:p>
            <a:r>
              <a:rPr lang="en-IN" b="1" dirty="0"/>
              <a:t>Workflow</a:t>
            </a:r>
            <a:r>
              <a:rPr lang="en-IN" dirty="0"/>
              <a:t> Query → Embedding → Vector Search → Retrieved Context → LLM Response.</a:t>
            </a:r>
          </a:p>
          <a:p>
            <a:r>
              <a:rPr lang="en-IN" b="1" dirty="0"/>
              <a:t>Applications</a:t>
            </a:r>
            <a:endParaRPr lang="en-IN" dirty="0"/>
          </a:p>
          <a:p>
            <a:pPr marL="800100" lvl="2" indent="0">
              <a:buNone/>
            </a:pPr>
            <a:r>
              <a:rPr lang="en-IN" sz="2700" dirty="0"/>
              <a:t>Semantic search</a:t>
            </a:r>
          </a:p>
          <a:p>
            <a:pPr marL="800100" lvl="2" indent="0">
              <a:buNone/>
            </a:pPr>
            <a:r>
              <a:rPr lang="en-IN" sz="2700" dirty="0"/>
              <a:t>Question answering</a:t>
            </a:r>
          </a:p>
          <a:p>
            <a:pPr marL="800100" lvl="2" indent="0">
              <a:buNone/>
            </a:pPr>
            <a:r>
              <a:rPr lang="en-IN" sz="2700" dirty="0"/>
              <a:t>Knowledge management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267"/>
            <a:ext cx="8229600" cy="1143000"/>
          </a:xfrm>
        </p:spPr>
        <p:txBody>
          <a:bodyPr/>
          <a:lstStyle/>
          <a:p>
            <a:r>
              <a:rPr dirty="0"/>
              <a:t>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057" y="1167267"/>
            <a:ext cx="8860972" cy="5165724"/>
          </a:xfrm>
        </p:spPr>
        <p:txBody>
          <a:bodyPr>
            <a:noAutofit/>
          </a:bodyPr>
          <a:lstStyle/>
          <a:p>
            <a:r>
              <a:rPr lang="en-IN" sz="2600" b="1" dirty="0"/>
              <a:t>Documents</a:t>
            </a:r>
            <a:r>
              <a:rPr lang="en-IN" sz="2600" dirty="0"/>
              <a:t> Source knowledge (text, PDFs, reports, etc.).</a:t>
            </a:r>
          </a:p>
          <a:p>
            <a:r>
              <a:rPr lang="en-IN" sz="2600" b="1" dirty="0"/>
              <a:t>Chunking</a:t>
            </a:r>
            <a:r>
              <a:rPr lang="en-IN" sz="2600" dirty="0"/>
              <a:t> Split into manageable segments (fixed-size, semantic, sliding windows).</a:t>
            </a:r>
          </a:p>
          <a:p>
            <a:r>
              <a:rPr lang="en-IN" sz="2600" b="1" dirty="0"/>
              <a:t>Embedding</a:t>
            </a:r>
            <a:r>
              <a:rPr lang="en-IN" sz="2600" dirty="0"/>
              <a:t> Convert chunks into dense vectors using embedding models.</a:t>
            </a:r>
          </a:p>
          <a:p>
            <a:r>
              <a:rPr lang="en-IN" sz="2600" b="1" dirty="0"/>
              <a:t>Vector DB</a:t>
            </a:r>
            <a:r>
              <a:rPr lang="en-IN" sz="2600" dirty="0"/>
              <a:t> Store embeddings with indexing and metadata filtering for fast retrieval.</a:t>
            </a:r>
          </a:p>
          <a:p>
            <a:r>
              <a:rPr lang="en-IN" sz="2600" b="1" dirty="0"/>
              <a:t>Retrieval</a:t>
            </a:r>
            <a:r>
              <a:rPr lang="en-IN" sz="2600" dirty="0"/>
              <a:t> Query embeddings matched against stored vectors → relevant chunks returned.</a:t>
            </a:r>
          </a:p>
          <a:p>
            <a:r>
              <a:rPr lang="en-IN" sz="2600" b="1" dirty="0"/>
              <a:t>LLM</a:t>
            </a:r>
            <a:r>
              <a:rPr lang="en-IN" sz="2600" dirty="0"/>
              <a:t> Large Language Model integrates retrieved context with generative reasoning.</a:t>
            </a:r>
          </a:p>
          <a:p>
            <a:r>
              <a:rPr lang="en-IN" sz="2600" b="1" dirty="0"/>
              <a:t>Final Answer</a:t>
            </a:r>
            <a:r>
              <a:rPr lang="en-IN" sz="2600" dirty="0"/>
              <a:t> Context-grounded response with improved factual accuracy and reduced hallucinations.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Embedding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Accuracy</a:t>
            </a:r>
            <a:r>
              <a:rPr lang="en-IN" dirty="0"/>
              <a:t> How well the embeddings capture semantic meaning and improve retrieval quality.</a:t>
            </a:r>
          </a:p>
          <a:p>
            <a:r>
              <a:rPr lang="en-IN" b="1" dirty="0"/>
              <a:t>Latency</a:t>
            </a:r>
            <a:r>
              <a:rPr lang="en-IN" dirty="0"/>
              <a:t> Speed of generating embeddings — critical for real-time applications.</a:t>
            </a:r>
          </a:p>
          <a:p>
            <a:r>
              <a:rPr lang="en-IN" b="1" dirty="0"/>
              <a:t>Cost</a:t>
            </a:r>
            <a:r>
              <a:rPr lang="en-IN" dirty="0"/>
              <a:t> Pricing per token/vector; balance between performance and budget.</a:t>
            </a:r>
          </a:p>
          <a:p>
            <a:r>
              <a:rPr lang="en-IN" b="1" dirty="0"/>
              <a:t>Language Support</a:t>
            </a:r>
            <a:r>
              <a:rPr lang="en-IN" dirty="0"/>
              <a:t> Multilingual capabilities vs. English-only models.</a:t>
            </a:r>
          </a:p>
          <a:p>
            <a:r>
              <a:rPr lang="en-IN" b="1" dirty="0"/>
              <a:t>Vector Dimension</a:t>
            </a:r>
            <a:r>
              <a:rPr lang="en-IN" dirty="0"/>
              <a:t> Higher dimensions capture richer information but increase storage and compute requirements.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 err="1"/>
              <a:t>Precision@K</a:t>
            </a:r>
            <a:r>
              <a:rPr lang="en-IN" dirty="0"/>
              <a:t> Fraction of top‑K retrieved results that are relevant. → Measures accuracy of the top results.</a:t>
            </a:r>
          </a:p>
          <a:p>
            <a:r>
              <a:rPr lang="en-IN" b="1" dirty="0" err="1"/>
              <a:t>Recall@K</a:t>
            </a:r>
            <a:r>
              <a:rPr lang="en-IN" dirty="0"/>
              <a:t> Fraction of all relevant items retrieved within top‑K. → Measures coverage of retrieval.</a:t>
            </a:r>
          </a:p>
          <a:p>
            <a:r>
              <a:rPr lang="en-IN" b="1" dirty="0"/>
              <a:t>MRR (Mean Reciprocal Rank)</a:t>
            </a:r>
            <a:r>
              <a:rPr lang="en-IN" dirty="0"/>
              <a:t> Average of reciprocal ranks of the first relevant result. → Captures how quickly a relevant item appears.</a:t>
            </a:r>
          </a:p>
          <a:p>
            <a:r>
              <a:rPr lang="en-IN" b="1" dirty="0" err="1"/>
              <a:t>nDCG</a:t>
            </a:r>
            <a:r>
              <a:rPr lang="en-IN" b="1" dirty="0"/>
              <a:t> (Normalized Discounted Cumulative Gain)</a:t>
            </a:r>
            <a:r>
              <a:rPr lang="en-IN" dirty="0"/>
              <a:t> Considers relevance and ranking position. → Higher relevance at top positions = higher score.</a:t>
            </a:r>
          </a:p>
          <a:p>
            <a:r>
              <a:rPr lang="en-IN" b="1" dirty="0"/>
              <a:t>Hit Rate</a:t>
            </a:r>
            <a:r>
              <a:rPr lang="en-IN" dirty="0"/>
              <a:t> Percentage of queries where at least one relevant item is retrieved. → Simple success measure.</a:t>
            </a:r>
          </a:p>
          <a:p>
            <a:r>
              <a:rPr lang="en-IN" b="1" dirty="0"/>
              <a:t>Latency</a:t>
            </a:r>
            <a:r>
              <a:rPr lang="en-IN" dirty="0"/>
              <a:t> Time taken to return results. → Critical for real‑time applications.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2493F-C83D-843A-C296-682133DFF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BBEE4-4059-A634-1F43-A26F35B65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Precision@K</a:t>
            </a:r>
            <a:r>
              <a:rPr lang="en-IN" dirty="0"/>
              <a:t> → Accuracy</a:t>
            </a:r>
          </a:p>
          <a:p>
            <a:r>
              <a:rPr lang="en-IN" dirty="0" err="1"/>
              <a:t>Recall@K</a:t>
            </a:r>
            <a:r>
              <a:rPr lang="en-IN" dirty="0"/>
              <a:t> → Coverage</a:t>
            </a:r>
          </a:p>
          <a:p>
            <a:r>
              <a:rPr lang="en-IN" dirty="0"/>
              <a:t>MRR → Ranking efficiency</a:t>
            </a:r>
          </a:p>
          <a:p>
            <a:r>
              <a:rPr lang="en-IN" dirty="0" err="1"/>
              <a:t>nDCG</a:t>
            </a:r>
            <a:r>
              <a:rPr lang="en-IN" dirty="0"/>
              <a:t> → Ranking quality</a:t>
            </a:r>
          </a:p>
          <a:p>
            <a:r>
              <a:rPr lang="en-IN" dirty="0"/>
              <a:t>Hit Rate → Success rate</a:t>
            </a:r>
          </a:p>
          <a:p>
            <a:r>
              <a:rPr lang="en-IN" dirty="0"/>
              <a:t>Latency → Speed</a:t>
            </a:r>
          </a:p>
        </p:txBody>
      </p:sp>
    </p:spTree>
    <p:extLst>
      <p:ext uri="{BB962C8B-B14F-4D97-AF65-F5344CB8AC3E}">
        <p14:creationId xmlns:p14="http://schemas.microsoft.com/office/powerpoint/2010/main" val="1181670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72743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Embedding Drift</a:t>
            </a:r>
            <a:r>
              <a:rPr lang="en-IN" dirty="0"/>
              <a:t> Embeddings lose alignment over time as models or data evolve, reducing retrieval accuracy.</a:t>
            </a:r>
          </a:p>
          <a:p>
            <a:r>
              <a:rPr lang="en-IN" b="1" dirty="0"/>
              <a:t>Poor Chunking</a:t>
            </a:r>
            <a:r>
              <a:rPr lang="en-IN" dirty="0"/>
              <a:t> Bad segmentation breaks semantic meaning, leading to weak embeddings and irrelevant retrieval.</a:t>
            </a:r>
          </a:p>
          <a:p>
            <a:r>
              <a:rPr lang="en-IN" b="1" dirty="0"/>
              <a:t>Low Recall</a:t>
            </a:r>
            <a:r>
              <a:rPr lang="en-IN" dirty="0"/>
              <a:t> System fails to retrieve enough relevant documents, limiting context for the LLM.</a:t>
            </a:r>
          </a:p>
          <a:p>
            <a:r>
              <a:rPr lang="en-IN" b="1" dirty="0"/>
              <a:t>Hallucinations</a:t>
            </a:r>
            <a:r>
              <a:rPr lang="en-IN" dirty="0"/>
              <a:t> LLM generates unsupported or fabricated information when retrieval context is insufficient.</a:t>
            </a:r>
          </a:p>
          <a:p>
            <a:r>
              <a:rPr lang="en-IN" b="1" dirty="0"/>
              <a:t>Duplicate Retrieval</a:t>
            </a:r>
            <a:r>
              <a:rPr lang="en-IN" dirty="0"/>
              <a:t> Multiple overlapping chunks retrieved, wasting context window and reducing diversity of evidence.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Production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Hybrid Search</a:t>
            </a:r>
            <a:r>
              <a:rPr lang="en-IN" dirty="0"/>
              <a:t> Combine dense embeddings with sparse keyword methods (BM25) for balanced precision and recall.</a:t>
            </a:r>
          </a:p>
          <a:p>
            <a:r>
              <a:rPr lang="en-IN" b="1" dirty="0"/>
              <a:t>Reranking</a:t>
            </a:r>
            <a:r>
              <a:rPr lang="en-IN" dirty="0"/>
              <a:t> Apply a secondary model to reorder retrieved results for higher relevance.</a:t>
            </a:r>
          </a:p>
          <a:p>
            <a:r>
              <a:rPr lang="en-IN" b="1" dirty="0"/>
              <a:t>Metadata Filtering</a:t>
            </a:r>
            <a:r>
              <a:rPr lang="en-IN" dirty="0"/>
              <a:t> Use structured attributes (date, author, category) to narrow down retrieval scope.</a:t>
            </a:r>
          </a:p>
          <a:p>
            <a:r>
              <a:rPr lang="en-IN" b="1" dirty="0"/>
              <a:t>Caching</a:t>
            </a:r>
            <a:r>
              <a:rPr lang="en-IN" dirty="0"/>
              <a:t> Store frequent queries and embeddings to reduce latency and cost.</a:t>
            </a:r>
          </a:p>
          <a:p>
            <a:r>
              <a:rPr lang="en-IN" b="1" dirty="0"/>
              <a:t>Evaluation Pipelines</a:t>
            </a:r>
            <a:r>
              <a:rPr lang="en-IN" dirty="0"/>
              <a:t> Continuously measure performance with metrics like </a:t>
            </a:r>
            <a:r>
              <a:rPr lang="en-IN" dirty="0" err="1"/>
              <a:t>Precision@K</a:t>
            </a:r>
            <a:r>
              <a:rPr lang="en-IN" dirty="0"/>
              <a:t>, </a:t>
            </a:r>
            <a:r>
              <a:rPr lang="en-IN" dirty="0" err="1"/>
              <a:t>Recall@K</a:t>
            </a:r>
            <a:r>
              <a:rPr lang="en-IN" dirty="0"/>
              <a:t>, MRR, </a:t>
            </a:r>
            <a:r>
              <a:rPr lang="en-IN" dirty="0" err="1"/>
              <a:t>nDCG</a:t>
            </a:r>
            <a:r>
              <a:rPr lang="en-IN" dirty="0"/>
              <a:t>, Hit Rate, and Latency.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22AA-0F0E-B12B-6D90-AF1C4928A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Fine‑Tuning vs Prompting vs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ED7FC-A0C1-17A9-859E-01E49A7C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Introduction</a:t>
            </a:r>
          </a:p>
          <a:p>
            <a:r>
              <a:rPr lang="en-IN" b="1" dirty="0"/>
              <a:t>Fine‑Tuning</a:t>
            </a:r>
            <a:r>
              <a:rPr lang="en-IN" dirty="0"/>
              <a:t>, </a:t>
            </a:r>
            <a:r>
              <a:rPr lang="en-IN" b="1" dirty="0"/>
              <a:t>Prompting</a:t>
            </a:r>
            <a:r>
              <a:rPr lang="en-IN" dirty="0"/>
              <a:t>, and </a:t>
            </a:r>
            <a:r>
              <a:rPr lang="en-IN" b="1" dirty="0"/>
              <a:t>RAG</a:t>
            </a:r>
            <a:r>
              <a:rPr lang="en-IN" dirty="0"/>
              <a:t> are three strategies to adapt LLMs.</a:t>
            </a:r>
          </a:p>
          <a:p>
            <a:r>
              <a:rPr lang="en-IN" dirty="0"/>
              <a:t>Each has different trade‑offs in </a:t>
            </a:r>
            <a:r>
              <a:rPr lang="en-IN" b="1" dirty="0"/>
              <a:t>cost, flexibility, and accuracy</a:t>
            </a:r>
            <a:r>
              <a:rPr lang="en-IN" dirty="0"/>
              <a:t>.</a:t>
            </a:r>
          </a:p>
          <a:p>
            <a:r>
              <a:rPr lang="en-IN" dirty="0"/>
              <a:t>Goal: Understand </a:t>
            </a:r>
            <a:r>
              <a:rPr lang="en-IN" b="1" dirty="0"/>
              <a:t>when to use each</a:t>
            </a:r>
            <a:r>
              <a:rPr lang="en-IN" dirty="0"/>
              <a:t> and basics of fine‑tuning.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3279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97DB-1A78-DD5F-FAB6-CB4F81D9C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11905"/>
          </a:xfrm>
        </p:spPr>
        <p:txBody>
          <a:bodyPr/>
          <a:lstStyle/>
          <a:p>
            <a:r>
              <a:rPr lang="en-IN" dirty="0"/>
              <a:t>Fine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B1183-D7D0-B0CB-2538-2728C0896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8944"/>
            <a:ext cx="8229600" cy="524441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Definition</a:t>
            </a:r>
            <a:r>
              <a:rPr lang="en-IN" dirty="0"/>
              <a:t>: Adjusting a pre‑trained model’s parameters using domain‑specific data to make it perform better on specialized tasks.</a:t>
            </a:r>
          </a:p>
          <a:p>
            <a:r>
              <a:rPr lang="en-IN" b="1" dirty="0"/>
              <a:t>Goal</a:t>
            </a:r>
            <a:r>
              <a:rPr lang="en-IN" dirty="0"/>
              <a:t>: Transfer general knowledge into </a:t>
            </a:r>
            <a:r>
              <a:rPr lang="en-IN" b="1" dirty="0"/>
              <a:t>niche expertise</a:t>
            </a:r>
            <a:r>
              <a:rPr lang="en-IN" dirty="0"/>
              <a:t> (e.g., medical text, legal contracts, customer support).</a:t>
            </a:r>
          </a:p>
          <a:p>
            <a:pPr marL="0" indent="0">
              <a:buNone/>
            </a:pPr>
            <a:r>
              <a:rPr lang="en-IN" b="1" dirty="0"/>
              <a:t>Advantages</a:t>
            </a:r>
          </a:p>
          <a:p>
            <a:r>
              <a:rPr lang="en-IN" dirty="0"/>
              <a:t>Tailored responses for niche domains.</a:t>
            </a:r>
          </a:p>
          <a:p>
            <a:r>
              <a:rPr lang="en-IN" dirty="0"/>
              <a:t>Higher accuracy on repetitive, specialized tasks.</a:t>
            </a:r>
          </a:p>
          <a:p>
            <a:r>
              <a:rPr lang="en-IN" dirty="0"/>
              <a:t>Better alignment with organizational vocabulary.</a:t>
            </a:r>
          </a:p>
          <a:p>
            <a:pPr marL="0" indent="0">
              <a:buNone/>
            </a:pPr>
            <a:r>
              <a:rPr lang="en-IN" b="1" dirty="0"/>
              <a:t>Challenges</a:t>
            </a:r>
          </a:p>
          <a:p>
            <a:r>
              <a:rPr lang="en-IN" dirty="0"/>
              <a:t>Requires compute resources.</a:t>
            </a:r>
          </a:p>
          <a:p>
            <a:r>
              <a:rPr lang="en-IN" dirty="0"/>
              <a:t>Risk of overfitting if dataset is too small.</a:t>
            </a:r>
          </a:p>
          <a:p>
            <a:r>
              <a:rPr lang="en-IN" dirty="0"/>
              <a:t>Needs ongoing maintenance as domain data evolves.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004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264839-F1C2-9FEF-1087-D3C981684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267"/>
            <a:ext cx="8229600" cy="890133"/>
          </a:xfrm>
        </p:spPr>
        <p:txBody>
          <a:bodyPr>
            <a:normAutofit/>
          </a:bodyPr>
          <a:lstStyle/>
          <a:p>
            <a:r>
              <a:rPr lang="en-IN" b="1" dirty="0"/>
              <a:t>Steps to Do Fine‑Tuning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B19F88-2646-B873-0CFC-1656B757C0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" y="914400"/>
            <a:ext cx="4495800" cy="5943600"/>
          </a:xfrm>
        </p:spPr>
        <p:txBody>
          <a:bodyPr>
            <a:noAutofit/>
          </a:bodyPr>
          <a:lstStyle/>
          <a:p>
            <a:r>
              <a:rPr lang="en-IN" sz="1800" b="1" dirty="0"/>
              <a:t>Select Base Model</a:t>
            </a:r>
            <a:endParaRPr lang="en-IN" sz="1800" dirty="0"/>
          </a:p>
          <a:p>
            <a:pPr lvl="1"/>
            <a:r>
              <a:rPr lang="en-IN" sz="1800" dirty="0"/>
              <a:t>Start with a large pre‑trained LLM (e.g., GPT‑like, BERT, Falcon, </a:t>
            </a:r>
            <a:r>
              <a:rPr lang="en-IN" sz="1800" dirty="0" err="1"/>
              <a:t>LLaMA</a:t>
            </a:r>
            <a:r>
              <a:rPr lang="en-IN" sz="1800" dirty="0"/>
              <a:t>).</a:t>
            </a:r>
          </a:p>
          <a:p>
            <a:pPr lvl="1"/>
            <a:r>
              <a:rPr lang="en-IN" sz="1800" dirty="0"/>
              <a:t>Choose based on task type (classification, summarization, Q&amp;A).</a:t>
            </a:r>
          </a:p>
          <a:p>
            <a:r>
              <a:rPr lang="en-IN" sz="1800" b="1" dirty="0"/>
              <a:t>Prepare Data</a:t>
            </a:r>
            <a:endParaRPr lang="en-IN" sz="1800" dirty="0"/>
          </a:p>
          <a:p>
            <a:pPr lvl="1"/>
            <a:r>
              <a:rPr lang="en-IN" sz="1800" dirty="0"/>
              <a:t>Collect domain‑specific text (e.g., medical records, financial reports).</a:t>
            </a:r>
          </a:p>
          <a:p>
            <a:pPr lvl="1"/>
            <a:r>
              <a:rPr lang="en-IN" sz="1800" dirty="0"/>
              <a:t>Clean and format into input‑output pairs.</a:t>
            </a:r>
          </a:p>
          <a:p>
            <a:pPr lvl="1"/>
            <a:r>
              <a:rPr lang="en-IN" sz="1800" dirty="0"/>
              <a:t>Ensure balanced, representative samples.</a:t>
            </a:r>
          </a:p>
          <a:p>
            <a:r>
              <a:rPr lang="en-IN" sz="1800" b="1" dirty="0"/>
              <a:t>Choose Fine‑Tuning Method</a:t>
            </a:r>
            <a:endParaRPr lang="en-IN" sz="1800" dirty="0"/>
          </a:p>
          <a:p>
            <a:pPr lvl="1"/>
            <a:r>
              <a:rPr lang="en-IN" sz="1800" b="1" dirty="0"/>
              <a:t>Full fine‑tuning</a:t>
            </a:r>
            <a:r>
              <a:rPr lang="en-IN" sz="1800" dirty="0"/>
              <a:t>: Update all parameters (requires lots of compute).</a:t>
            </a:r>
          </a:p>
          <a:p>
            <a:pPr lvl="1"/>
            <a:r>
              <a:rPr lang="en-IN" sz="1800" b="1" dirty="0"/>
              <a:t>Parameter‑efficient fine‑tuning (PEFT)</a:t>
            </a:r>
            <a:r>
              <a:rPr lang="en-IN" sz="1800" dirty="0"/>
              <a:t>: Use </a:t>
            </a:r>
            <a:r>
              <a:rPr lang="en-IN" sz="1800" dirty="0" err="1"/>
              <a:t>LoRA</a:t>
            </a:r>
            <a:r>
              <a:rPr lang="en-IN" sz="1800" dirty="0"/>
              <a:t>, adapters, prefix‑tuning → cheaper and faster.</a:t>
            </a:r>
          </a:p>
          <a:p>
            <a:endParaRPr lang="en-IN" sz="1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EC7A6-DAB4-AA33-8B6C-72F063057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2" y="990601"/>
            <a:ext cx="4408715" cy="5592762"/>
          </a:xfrm>
        </p:spPr>
        <p:txBody>
          <a:bodyPr>
            <a:noAutofit/>
          </a:bodyPr>
          <a:lstStyle/>
          <a:p>
            <a:r>
              <a:rPr lang="en-IN" sz="1800" b="1" dirty="0"/>
              <a:t>Training</a:t>
            </a:r>
            <a:endParaRPr lang="en-IN" sz="1800" dirty="0"/>
          </a:p>
          <a:p>
            <a:pPr lvl="1"/>
            <a:r>
              <a:rPr lang="en-IN" sz="1800" dirty="0"/>
              <a:t>Define hyperparameters (learning rate, batch size, epochs).</a:t>
            </a:r>
          </a:p>
          <a:p>
            <a:pPr lvl="1"/>
            <a:r>
              <a:rPr lang="en-IN" sz="1800" dirty="0"/>
              <a:t>Train on GPU/TPU for efficiency.</a:t>
            </a:r>
          </a:p>
          <a:p>
            <a:pPr lvl="1"/>
            <a:r>
              <a:rPr lang="en-IN" sz="1800" dirty="0"/>
              <a:t>Monitor loss and accuracy metrics.</a:t>
            </a:r>
          </a:p>
          <a:p>
            <a:r>
              <a:rPr lang="en-IN" sz="1800" b="1" dirty="0"/>
              <a:t>Evaluation</a:t>
            </a:r>
            <a:endParaRPr lang="en-IN" sz="1800" dirty="0"/>
          </a:p>
          <a:p>
            <a:pPr lvl="1"/>
            <a:r>
              <a:rPr lang="en-IN" sz="1800" dirty="0"/>
              <a:t>Test on validation set.</a:t>
            </a:r>
          </a:p>
          <a:p>
            <a:pPr lvl="1"/>
            <a:r>
              <a:rPr lang="en-IN" sz="1800" dirty="0"/>
              <a:t>Use metrics like accuracy, F1, BLEU, ROUGE depending on task.</a:t>
            </a:r>
          </a:p>
          <a:p>
            <a:pPr lvl="1"/>
            <a:r>
              <a:rPr lang="en-IN" sz="1800" dirty="0"/>
              <a:t>Compare against baseline (pre‑trained model without fine‑tuning).</a:t>
            </a:r>
          </a:p>
          <a:p>
            <a:r>
              <a:rPr lang="en-IN" sz="1800" b="1" dirty="0"/>
              <a:t>Deployment</a:t>
            </a:r>
            <a:endParaRPr lang="en-IN" sz="1800" dirty="0"/>
          </a:p>
          <a:p>
            <a:pPr lvl="1"/>
            <a:r>
              <a:rPr lang="en-IN" sz="1800" dirty="0"/>
              <a:t>Save fine‑tuned weights.</a:t>
            </a:r>
          </a:p>
          <a:p>
            <a:pPr lvl="1"/>
            <a:r>
              <a:rPr lang="en-IN" sz="1800" dirty="0"/>
              <a:t>Integrate into applications (chatbots, search engines, analytics tools).</a:t>
            </a:r>
          </a:p>
          <a:p>
            <a:pPr lvl="1"/>
            <a:r>
              <a:rPr lang="en-IN" sz="1800" dirty="0"/>
              <a:t>Monitor drift and retrain periodically.</a:t>
            </a:r>
          </a:p>
        </p:txBody>
      </p:sp>
    </p:spTree>
    <p:extLst>
      <p:ext uri="{BB962C8B-B14F-4D97-AF65-F5344CB8AC3E}">
        <p14:creationId xmlns:p14="http://schemas.microsoft.com/office/powerpoint/2010/main" val="30906872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D082-8494-1B4C-2342-FA027479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C8335-CF07-4E06-2376-C7673F571B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Definition</a:t>
            </a:r>
            <a:r>
              <a:rPr lang="en-IN" dirty="0"/>
              <a:t>: Crafting instructions to guide model </a:t>
            </a:r>
            <a:r>
              <a:rPr lang="en-IN" dirty="0" err="1"/>
              <a:t>behavior</a:t>
            </a:r>
            <a:r>
              <a:rPr lang="en-IN" dirty="0"/>
              <a:t> without retraining.</a:t>
            </a:r>
          </a:p>
          <a:p>
            <a:pPr marL="0" indent="0">
              <a:buNone/>
            </a:pPr>
            <a:r>
              <a:rPr lang="en-IN" b="1" dirty="0"/>
              <a:t>Techniques</a:t>
            </a:r>
            <a:r>
              <a:rPr lang="en-IN" dirty="0"/>
              <a:t>:</a:t>
            </a:r>
          </a:p>
          <a:p>
            <a:r>
              <a:rPr lang="en-IN" dirty="0"/>
              <a:t>Zero‑shot, Few‑shot, Chain‑of‑Thought.</a:t>
            </a:r>
          </a:p>
          <a:p>
            <a:pPr marL="0" indent="0">
              <a:buNone/>
            </a:pPr>
            <a:r>
              <a:rPr lang="en-IN" b="1" dirty="0"/>
              <a:t>Pros</a:t>
            </a:r>
            <a:r>
              <a:rPr lang="en-IN" dirty="0"/>
              <a:t>:</a:t>
            </a:r>
          </a:p>
          <a:p>
            <a:r>
              <a:rPr lang="en-IN" dirty="0"/>
              <a:t>No training cost.</a:t>
            </a:r>
          </a:p>
          <a:p>
            <a:r>
              <a:rPr lang="en-IN" dirty="0"/>
              <a:t>Flexible, quick iteration.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74B34-1EAE-6206-47F6-7E73C75905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Cons</a:t>
            </a:r>
            <a:r>
              <a:rPr lang="en-IN" dirty="0"/>
              <a:t>:</a:t>
            </a:r>
          </a:p>
          <a:p>
            <a:r>
              <a:rPr lang="en-IN" dirty="0"/>
              <a:t>Limited control over outputs.</a:t>
            </a:r>
          </a:p>
          <a:p>
            <a:r>
              <a:rPr lang="en-IN" dirty="0"/>
              <a:t>Performance depends on prompt quality.</a:t>
            </a:r>
          </a:p>
          <a:p>
            <a:pPr marL="0" indent="0">
              <a:buNone/>
            </a:pPr>
            <a:r>
              <a:rPr lang="en-IN" b="1" dirty="0"/>
              <a:t>Best Use</a:t>
            </a:r>
            <a:r>
              <a:rPr lang="en-IN" dirty="0"/>
              <a:t>: General tasks, experimentation, rapid prototyping.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6936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491C-8CBB-73F6-2151-EC9D7030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RAG (Retrieval‑Augmented Generation)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6C9BB-EA6C-2103-E0FC-EB92A4DA1E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Definition</a:t>
            </a:r>
            <a:r>
              <a:rPr lang="en-IN" dirty="0"/>
              <a:t>: Combines vector retrieval with LLM generation.</a:t>
            </a:r>
          </a:p>
          <a:p>
            <a:pPr marL="0" indent="0">
              <a:buNone/>
            </a:pPr>
            <a:r>
              <a:rPr lang="en-IN" b="1" dirty="0"/>
              <a:t>Pipeline</a:t>
            </a:r>
            <a:r>
              <a:rPr lang="en-IN" dirty="0"/>
              <a:t>: Documents → Chunking → Embedding → Vector DB → Retrieval → LLM → Answer.</a:t>
            </a:r>
          </a:p>
          <a:p>
            <a:pPr marL="0" indent="0">
              <a:buNone/>
            </a:pPr>
            <a:r>
              <a:rPr lang="en-IN" b="1" dirty="0"/>
              <a:t>Pros</a:t>
            </a:r>
            <a:r>
              <a:rPr lang="en-IN" dirty="0"/>
              <a:t>:</a:t>
            </a:r>
          </a:p>
          <a:p>
            <a:r>
              <a:rPr lang="en-IN" dirty="0"/>
              <a:t>Reduces hallucinations.</a:t>
            </a:r>
          </a:p>
          <a:p>
            <a:r>
              <a:rPr lang="en-IN" dirty="0"/>
              <a:t>Keeps model lightweight (no retraining).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7096C-B1CE-76B9-5BFF-DD685D7DAF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Scales with external knowledge bases.</a:t>
            </a:r>
          </a:p>
          <a:p>
            <a:pPr marL="0" indent="0">
              <a:buNone/>
            </a:pPr>
            <a:r>
              <a:rPr lang="en-IN" b="1" dirty="0"/>
              <a:t>Cons</a:t>
            </a:r>
            <a:r>
              <a:rPr lang="en-IN" dirty="0"/>
              <a:t>:</a:t>
            </a:r>
          </a:p>
          <a:p>
            <a:r>
              <a:rPr lang="en-IN" dirty="0"/>
              <a:t>Requires infrastructure (vector DB).</a:t>
            </a:r>
          </a:p>
          <a:p>
            <a:r>
              <a:rPr lang="en-IN" dirty="0"/>
              <a:t>Retrieval quality impacts answers.</a:t>
            </a:r>
          </a:p>
          <a:p>
            <a:pPr marL="0" indent="0">
              <a:buNone/>
            </a:pPr>
            <a:r>
              <a:rPr lang="en-IN" b="1" dirty="0"/>
              <a:t>Best Use</a:t>
            </a:r>
            <a:r>
              <a:rPr lang="en-IN" dirty="0"/>
              <a:t>: Knowledge‑intensive tasks (chatbots, enterprise search).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521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0455-6EC2-4AAC-E9D3-7383EF62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Table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6412A8F-8C50-03E3-ADB6-60CC28AB41D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40067089"/>
              </p:ext>
            </p:extLst>
          </p:nvPr>
        </p:nvGraphicFramePr>
        <p:xfrm>
          <a:off x="457200" y="1774371"/>
          <a:ext cx="8077200" cy="340722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909743784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4061931829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957190193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3743215877"/>
                    </a:ext>
                  </a:extLst>
                </a:gridCol>
              </a:tblGrid>
              <a:tr h="618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Approach</a:t>
                      </a:r>
                      <a:endParaRPr lang="en-IN" sz="2200"/>
                    </a:p>
                  </a:txBody>
                  <a:tcPr marL="44873" marR="44873" marT="22437" marB="224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Strengths</a:t>
                      </a:r>
                      <a:endParaRPr lang="en-IN" sz="2200"/>
                    </a:p>
                  </a:txBody>
                  <a:tcPr marL="44873" marR="44873" marT="22437" marB="224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Weaknesses</a:t>
                      </a:r>
                      <a:endParaRPr lang="en-IN" sz="2200"/>
                    </a:p>
                  </a:txBody>
                  <a:tcPr marL="44873" marR="44873" marT="22437" marB="224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Best Use Case</a:t>
                      </a:r>
                      <a:endParaRPr lang="en-IN" sz="2200"/>
                    </a:p>
                  </a:txBody>
                  <a:tcPr marL="44873" marR="44873" marT="22437" marB="22437" anchor="ctr"/>
                </a:tc>
                <a:extLst>
                  <a:ext uri="{0D108BD9-81ED-4DB2-BD59-A6C34878D82A}">
                    <a16:rowId xmlns:a16="http://schemas.microsoft.com/office/drawing/2014/main" val="619789256"/>
                  </a:ext>
                </a:extLst>
              </a:tr>
              <a:tr h="108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hlinkClick r:id="rId2" action="ppaction://hlinkfile"/>
                        </a:rPr>
                        <a:t>Fine‑Tuning</a:t>
                      </a:r>
                      <a:endParaRPr lang="en-IN" sz="2200"/>
                    </a:p>
                  </a:txBody>
                  <a:tcPr marL="44873" marR="44873" marT="22437" marB="224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Domain‑specific accuracy</a:t>
                      </a:r>
                    </a:p>
                  </a:txBody>
                  <a:tcPr marL="44873" marR="44873" marT="22437" marB="224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Costly, retraining needed</a:t>
                      </a:r>
                    </a:p>
                  </a:txBody>
                  <a:tcPr marL="44873" marR="44873" marT="22437" marB="224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Specialized industries</a:t>
                      </a:r>
                    </a:p>
                  </a:txBody>
                  <a:tcPr marL="44873" marR="44873" marT="22437" marB="22437" anchor="ctr"/>
                </a:tc>
                <a:extLst>
                  <a:ext uri="{0D108BD9-81ED-4DB2-BD59-A6C34878D82A}">
                    <a16:rowId xmlns:a16="http://schemas.microsoft.com/office/drawing/2014/main" val="1455026450"/>
                  </a:ext>
                </a:extLst>
              </a:tr>
              <a:tr h="618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hlinkClick r:id="rId3" action="ppaction://hlinkfile"/>
                        </a:rPr>
                        <a:t>Prompting</a:t>
                      </a:r>
                      <a:endParaRPr lang="en-IN" sz="2200"/>
                    </a:p>
                  </a:txBody>
                  <a:tcPr marL="44873" marR="44873" marT="22437" marB="224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Fast, flexible</a:t>
                      </a:r>
                    </a:p>
                  </a:txBody>
                  <a:tcPr marL="44873" marR="44873" marT="22437" marB="224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Limited control</a:t>
                      </a:r>
                    </a:p>
                  </a:txBody>
                  <a:tcPr marL="44873" marR="44873" marT="22437" marB="224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General tasks</a:t>
                      </a:r>
                    </a:p>
                  </a:txBody>
                  <a:tcPr marL="44873" marR="44873" marT="22437" marB="22437" anchor="ctr"/>
                </a:tc>
                <a:extLst>
                  <a:ext uri="{0D108BD9-81ED-4DB2-BD59-A6C34878D82A}">
                    <a16:rowId xmlns:a16="http://schemas.microsoft.com/office/drawing/2014/main" val="3640492391"/>
                  </a:ext>
                </a:extLst>
              </a:tr>
              <a:tr h="108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hlinkClick r:id="rId4" action="ppaction://hlinkfile"/>
                        </a:rPr>
                        <a:t>RAG</a:t>
                      </a:r>
                      <a:endParaRPr lang="en-IN" sz="2200"/>
                    </a:p>
                  </a:txBody>
                  <a:tcPr marL="44873" marR="44873" marT="22437" marB="224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Scalable, factual</a:t>
                      </a:r>
                    </a:p>
                  </a:txBody>
                  <a:tcPr marL="44873" marR="44873" marT="22437" marB="224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Infra complexity</a:t>
                      </a:r>
                    </a:p>
                  </a:txBody>
                  <a:tcPr marL="44873" marR="44873" marT="22437" marB="224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Knowledge retrieval</a:t>
                      </a:r>
                    </a:p>
                  </a:txBody>
                  <a:tcPr marL="44873" marR="44873" marT="22437" marB="22437" anchor="ctr"/>
                </a:tc>
                <a:extLst>
                  <a:ext uri="{0D108BD9-81ED-4DB2-BD59-A6C34878D82A}">
                    <a16:rowId xmlns:a16="http://schemas.microsoft.com/office/drawing/2014/main" val="21282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307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2840</Words>
  <Application>Microsoft Office PowerPoint</Application>
  <PresentationFormat>On-screen Show (4:3)</PresentationFormat>
  <Paragraphs>267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Embeddings, Vector Similarity &amp; Semantic Search</vt:lpstr>
      <vt:lpstr>Learning Objectives</vt:lpstr>
      <vt:lpstr>PowerPoint Presentation</vt:lpstr>
      <vt:lpstr>Why Search Matters</vt:lpstr>
      <vt:lpstr>What is an Embedding?</vt:lpstr>
      <vt:lpstr>PowerPoint Presentation</vt:lpstr>
      <vt:lpstr>Why Embeddings Work</vt:lpstr>
      <vt:lpstr>Evolution of Text Representation</vt:lpstr>
      <vt:lpstr>Transformer Embeddings</vt:lpstr>
      <vt:lpstr>Embedding Generation Pipeline</vt:lpstr>
      <vt:lpstr>Embedding Dimensions</vt:lpstr>
      <vt:lpstr>Semantic Relationships</vt:lpstr>
      <vt:lpstr>Similarity Metrics Overview</vt:lpstr>
      <vt:lpstr>Embedding Models</vt:lpstr>
      <vt:lpstr>Vector Space</vt:lpstr>
      <vt:lpstr>Embeddings Search</vt:lpstr>
      <vt:lpstr>Retrieval methods</vt:lpstr>
      <vt:lpstr>PowerPoint Presentation</vt:lpstr>
      <vt:lpstr>🔍 Dense vs Sparse Retrieval</vt:lpstr>
      <vt:lpstr>Popular Vector Databases</vt:lpstr>
      <vt:lpstr>Why Normal Databases Struggle</vt:lpstr>
      <vt:lpstr>Chunking in RAG</vt:lpstr>
      <vt:lpstr>Retrieval-Augmented Generation</vt:lpstr>
      <vt:lpstr>RAG Pipeline</vt:lpstr>
      <vt:lpstr>Embedding Model Selection</vt:lpstr>
      <vt:lpstr>Evaluation Metrics</vt:lpstr>
      <vt:lpstr>PowerPoint Presentation</vt:lpstr>
      <vt:lpstr>Common Challenges</vt:lpstr>
      <vt:lpstr>Production Best Practices</vt:lpstr>
      <vt:lpstr>Fine‑Tuning vs Prompting vs RAG</vt:lpstr>
      <vt:lpstr>Fine Tuning</vt:lpstr>
      <vt:lpstr>Steps to Do Fine‑Tuning</vt:lpstr>
      <vt:lpstr>Prompting</vt:lpstr>
      <vt:lpstr>RAG (Retrieval‑Augmented Generation)</vt:lpstr>
      <vt:lpstr>Comparison Table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Khushboo Sachdeva</cp:lastModifiedBy>
  <cp:revision>5</cp:revision>
  <dcterms:created xsi:type="dcterms:W3CDTF">2013-01-27T09:14:16Z</dcterms:created>
  <dcterms:modified xsi:type="dcterms:W3CDTF">2026-06-29T10:27:54Z</dcterms:modified>
  <cp:category/>
</cp:coreProperties>
</file>